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DM Sans" pitchFamily="2"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77" y="4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6509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not the model. One sentence: I built a regression model that predicts a phone's price from its specs, then used it to see which features matter most. The brief was a phone retailer that wants to understand pricing.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had three tasks: predict price, extract the important features, and recommend. The rest of the deck follows that order. Keep this slide to 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median, not just the average: the median is 13,499 and the average 16,228, so a few expensive phones pull the average up. Only 8 phones cost more than 50,000. Remember this number, it explains the biggest errors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column mixed chip names, brand spellings, part numbers, and entries that were not processors at all (Android, IOS, 6 Core). I standardised them step by step and looked up the real chip by hand for the odd ones. Data quality and leakage are two different checks: quality asks if values are correct, leakage asks if any feature secretly contains the answer. If you run the improved notebook, the two 41.94 heights are corrected to the same model's usual 16.64.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groups processors into Flagship, Mid, low and other using hand-written rules on the processor name. It never looks at price, so it is not leakage. The averages show why the model leans on it: the average price of a Flagship phone is about five times a low-tier phone. Be honest about Apple and Google: tiny samples. These averages are from the original notebook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baseline: Linear Regression is the simplest model, so every other model has to beat it to justify its complexity. Why fit the encoder on training data only: so nothing from the test set leaks into training. One-hot encoding turns each text category into a 0/1 column because models only understand numbers.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one claim: I looked at the test scores of all seven models, so the test score alone is slightly optimistic. The next slide uses cross-validation on the training data, which is what really justifies choosing XGBoost. Extra Trees has a similar MAE (1,165) but a much worse RMSE (4,935), meaning it has larger big misses.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Cross-validation splits the training data into 5 parts, trains on 4 and tests on 1, five times, and averages. It is a steadier check than one split of 109 phones. XGBoost is best and also has a small spread (90). Honest caveat: colour variants of the same phone can sit in both train and test, which may flatter every model; the improved notebook checks this with grouped cross-validation. Bars here are scaled so 3,821 fills the width.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output had one number per one-hot column, so I mapped each column back to its original feature and summed. Tier, Processor and Manufacturer all describe the chip, so they share credit: correlated features split importance between them. Importance says what the model relies on, not what causes price. Use the words reliance and association, not cause.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is one feature against price, ignoring everything else. Importance is what the model uses with all features together. A spec can correlate with price because it travels with a good chipset, yet add little once the chipset is already in the model. Do not say a spec does not matter: say the model can already infer most of its information from the chipset.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is the average miss and RMSE squares the misses first, so one big miss inflates RMSE. Median miss 174 says the typical phone is predicted very closely. The weak spot is the rare expensive phone: there are only 8 phones above 50,000 in the whole data, so the model has little to learn from there.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limits yourself before anyone asks. The near-duplicate point: the same phone in different colours has the same specs and price, so if one colour is in training and another in test, the model has effectively seen the answer. I have not measured how much this matters. The fix is grouped cross-validation by phone model, which the improved notebook includes.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which features most influence price so the organization can set pricing and marketing. The honest answer: the chipset. Keep the caution about causation, since this is observed data and not an experiment.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takeaway and then the next steps. Next steps show you know where the project is weak and how you would improve it. Keep the claim to association: the chipset class is what the model relies 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12800" y="1590040"/>
            <a:ext cx="762000" cy="50800"/>
          </a:xfrm>
          <a:prstGeom prst="rect">
            <a:avLst/>
          </a:prstGeom>
          <a:solidFill>
            <a:srgbClr val="EB6834"/>
          </a:solidFill>
          <a:ln/>
        </p:spPr>
      </p:sp>
      <p:sp>
        <p:nvSpPr>
          <p:cNvPr id="3" name="Text 1"/>
          <p:cNvSpPr/>
          <p:nvPr/>
        </p:nvSpPr>
        <p:spPr>
          <a:xfrm>
            <a:off x="812800" y="186944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8FB8F0"/>
                </a:solidFill>
                <a:latin typeface="DM Sans" pitchFamily="34" charset="0"/>
                <a:ea typeface="DM Sans" pitchFamily="34" charset="-122"/>
                <a:cs typeface="DM Sans" pitchFamily="34" charset="-120"/>
              </a:rPr>
              <a:t>DATA SCIENCE PROJECT · FEATURE EXTRACTION AND PRICE PREDICTION</a:t>
            </a:r>
            <a:endParaRPr lang="en-US" sz="1400" dirty="0"/>
          </a:p>
        </p:txBody>
      </p:sp>
      <p:sp>
        <p:nvSpPr>
          <p:cNvPr id="4" name="Text 2"/>
          <p:cNvSpPr>
            <a:spLocks noGrp="1"/>
          </p:cNvSpPr>
          <p:nvPr>
            <p:ph type="title"/>
          </p:nvPr>
        </p:nvSpPr>
        <p:spPr>
          <a:xfrm>
            <a:off x="812800" y="2346960"/>
            <a:ext cx="10883392" cy="15189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1EA"/>
                </a:solidFill>
                <a:latin typeface="DM Sans" pitchFamily="34" charset="0"/>
                <a:ea typeface="DM Sans" pitchFamily="34" charset="-122"/>
                <a:cs typeface="DM Sans" pitchFamily="34" charset="-120"/>
              </a:rPr>
              <a:t>Which phone features drive price?</a:t>
            </a:r>
            <a:endParaRPr lang="en-US" sz="5600" dirty="0"/>
          </a:p>
        </p:txBody>
      </p:sp>
      <p:sp>
        <p:nvSpPr>
          <p:cNvPr id="5" name="Text 3"/>
          <p:cNvSpPr/>
          <p:nvPr/>
        </p:nvSpPr>
        <p:spPr>
          <a:xfrm>
            <a:off x="812800" y="4069080"/>
            <a:ext cx="10883392" cy="711200"/>
          </a:xfrm>
          <a:prstGeom prst="rect">
            <a:avLst/>
          </a:prstGeom>
          <a:noFill/>
          <a:ln/>
        </p:spPr>
        <p:txBody>
          <a:bodyPr wrap="square" lIns="0" tIns="0" rIns="0" bIns="0" rtlCol="0" anchor="t">
            <a:normAutofit/>
          </a:bodyPr>
          <a:lstStyle/>
          <a:p>
            <a:pPr>
              <a:lnSpc>
                <a:spcPts val="2700"/>
              </a:lnSpc>
            </a:pPr>
            <a:r>
              <a:rPr lang="en-US" sz="2000" dirty="0">
                <a:solidFill>
                  <a:srgbClr val="D6DCE8"/>
                </a:solidFill>
                <a:latin typeface="DM Sans" pitchFamily="34" charset="0"/>
                <a:ea typeface="DM Sans" pitchFamily="34" charset="-122"/>
                <a:cs typeface="DM Sans" pitchFamily="34" charset="-120"/>
              </a:rPr>
              <a:t>A model that predicts mobile phone prices from the given phone-data, and what it reveals about pricing</a:t>
            </a:r>
            <a:endParaRPr lang="en-US" sz="2000" dirty="0"/>
          </a:p>
        </p:txBody>
      </p:sp>
      <p:sp>
        <p:nvSpPr>
          <p:cNvPr id="6" name="Text 4"/>
          <p:cNvSpPr/>
          <p:nvPr/>
        </p:nvSpPr>
        <p:spPr>
          <a:xfrm>
            <a:off x="812800" y="498348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FB8F0"/>
                </a:solidFill>
                <a:latin typeface="DM Sans" pitchFamily="34" charset="0"/>
                <a:ea typeface="DM Sans" pitchFamily="34" charset="-122"/>
                <a:cs typeface="DM Sans" pitchFamily="34" charset="-120"/>
              </a:rPr>
              <a:t>Roshani Mor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What moves a phone’s price?</a:t>
            </a:r>
            <a:endParaRPr lang="en-US" sz="3200" dirty="0"/>
          </a:p>
        </p:txBody>
      </p:sp>
      <p:sp>
        <p:nvSpPr>
          <p:cNvPr id="3" name="Text 1"/>
          <p:cNvSpPr/>
          <p:nvPr/>
        </p:nvSpPr>
        <p:spPr>
          <a:xfrm>
            <a:off x="812800" y="151384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A phone retailer wants to price with more confidence. The brief has three parts.</a:t>
            </a:r>
            <a:endParaRPr lang="en-US" sz="1600" dirty="0"/>
          </a:p>
        </p:txBody>
      </p:sp>
      <p:sp>
        <p:nvSpPr>
          <p:cNvPr id="4" name="Shape 2"/>
          <p:cNvSpPr/>
          <p:nvPr/>
        </p:nvSpPr>
        <p:spPr>
          <a:xfrm>
            <a:off x="815975" y="2055495"/>
            <a:ext cx="3380264" cy="2086610"/>
          </a:xfrm>
          <a:prstGeom prst="roundRect">
            <a:avLst>
              <a:gd name="adj" fmla="val 4717"/>
            </a:avLst>
          </a:prstGeom>
          <a:solidFill>
            <a:srgbClr val="FFFFFF"/>
          </a:solidFill>
          <a:ln w="6350">
            <a:solidFill>
              <a:srgbClr val="E3E6E4"/>
            </a:solidFill>
            <a:prstDash val="solid"/>
          </a:ln>
        </p:spPr>
      </p:sp>
      <p:sp>
        <p:nvSpPr>
          <p:cNvPr id="5" name="Text 3"/>
          <p:cNvSpPr/>
          <p:nvPr/>
        </p:nvSpPr>
        <p:spPr>
          <a:xfrm>
            <a:off x="1071880" y="2311400"/>
            <a:ext cx="295450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01 · PREDICT</a:t>
            </a:r>
            <a:endParaRPr lang="en-US" sz="1200" dirty="0"/>
          </a:p>
        </p:txBody>
      </p:sp>
      <p:sp>
        <p:nvSpPr>
          <p:cNvPr id="6" name="Text 4"/>
          <p:cNvSpPr/>
          <p:nvPr/>
        </p:nvSpPr>
        <p:spPr>
          <a:xfrm>
            <a:off x="1071880" y="2651760"/>
            <a:ext cx="2954507"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DM Sans" pitchFamily="34" charset="0"/>
                <a:ea typeface="DM Sans" pitchFamily="34" charset="-122"/>
                <a:cs typeface="DM Sans" pitchFamily="34" charset="-120"/>
              </a:rPr>
              <a:t>Estimate a phone’s price from its specs</a:t>
            </a:r>
            <a:endParaRPr lang="en-US" sz="2000" dirty="0"/>
          </a:p>
        </p:txBody>
      </p:sp>
      <p:sp>
        <p:nvSpPr>
          <p:cNvPr id="7" name="Text 5"/>
          <p:cNvSpPr/>
          <p:nvPr/>
        </p:nvSpPr>
        <p:spPr>
          <a:xfrm>
            <a:off x="1071880" y="3388360"/>
            <a:ext cx="29545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Seven models, compared fairly on phones they have not seen.</a:t>
            </a:r>
            <a:endParaRPr lang="en-US" sz="1400" dirty="0"/>
          </a:p>
        </p:txBody>
      </p:sp>
      <p:sp>
        <p:nvSpPr>
          <p:cNvPr id="8" name="Shape 6"/>
          <p:cNvSpPr/>
          <p:nvPr/>
        </p:nvSpPr>
        <p:spPr>
          <a:xfrm>
            <a:off x="4405789" y="2055495"/>
            <a:ext cx="3380343" cy="2086610"/>
          </a:xfrm>
          <a:prstGeom prst="roundRect">
            <a:avLst>
              <a:gd name="adj" fmla="val 4717"/>
            </a:avLst>
          </a:prstGeom>
          <a:solidFill>
            <a:srgbClr val="FFFFFF"/>
          </a:solidFill>
          <a:ln w="6350">
            <a:solidFill>
              <a:srgbClr val="E3E6E4"/>
            </a:solidFill>
            <a:prstDash val="solid"/>
          </a:ln>
        </p:spPr>
      </p:sp>
      <p:sp>
        <p:nvSpPr>
          <p:cNvPr id="9" name="Text 7"/>
          <p:cNvSpPr/>
          <p:nvPr/>
        </p:nvSpPr>
        <p:spPr>
          <a:xfrm>
            <a:off x="4661694" y="2311400"/>
            <a:ext cx="2954589"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02 · EXTRACT</a:t>
            </a:r>
            <a:endParaRPr lang="en-US" sz="1200" dirty="0"/>
          </a:p>
        </p:txBody>
      </p:sp>
      <p:sp>
        <p:nvSpPr>
          <p:cNvPr id="10" name="Text 8"/>
          <p:cNvSpPr/>
          <p:nvPr/>
        </p:nvSpPr>
        <p:spPr>
          <a:xfrm>
            <a:off x="4661694" y="2651760"/>
            <a:ext cx="2954589"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DM Sans" pitchFamily="34" charset="0"/>
                <a:ea typeface="DM Sans" pitchFamily="34" charset="-122"/>
                <a:cs typeface="DM Sans" pitchFamily="34" charset="-120"/>
              </a:rPr>
              <a:t>Find the features that matter most</a:t>
            </a:r>
            <a:endParaRPr lang="en-US" sz="2000" dirty="0"/>
          </a:p>
        </p:txBody>
      </p:sp>
      <p:sp>
        <p:nvSpPr>
          <p:cNvPr id="11" name="Text 9"/>
          <p:cNvSpPr/>
          <p:nvPr/>
        </p:nvSpPr>
        <p:spPr>
          <a:xfrm>
            <a:off x="4661694" y="3388360"/>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Feature importance shows what the model relies on.</a:t>
            </a:r>
            <a:endParaRPr lang="en-US" sz="1400" dirty="0"/>
          </a:p>
        </p:txBody>
      </p:sp>
      <p:sp>
        <p:nvSpPr>
          <p:cNvPr id="12" name="Shape 10"/>
          <p:cNvSpPr/>
          <p:nvPr/>
        </p:nvSpPr>
        <p:spPr>
          <a:xfrm>
            <a:off x="7995682" y="2055495"/>
            <a:ext cx="3380343" cy="2086610"/>
          </a:xfrm>
          <a:prstGeom prst="roundRect">
            <a:avLst>
              <a:gd name="adj" fmla="val 4717"/>
            </a:avLst>
          </a:prstGeom>
          <a:solidFill>
            <a:srgbClr val="FFFFFF"/>
          </a:solidFill>
          <a:ln w="6350">
            <a:solidFill>
              <a:srgbClr val="E3E6E4"/>
            </a:solidFill>
            <a:prstDash val="solid"/>
          </a:ln>
        </p:spPr>
      </p:sp>
      <p:sp>
        <p:nvSpPr>
          <p:cNvPr id="13" name="Text 11"/>
          <p:cNvSpPr/>
          <p:nvPr/>
        </p:nvSpPr>
        <p:spPr>
          <a:xfrm>
            <a:off x="8251587" y="2311400"/>
            <a:ext cx="2954589"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03 · ADVISE</a:t>
            </a:r>
            <a:endParaRPr lang="en-US" sz="1200" dirty="0"/>
          </a:p>
        </p:txBody>
      </p:sp>
      <p:sp>
        <p:nvSpPr>
          <p:cNvPr id="14" name="Text 12"/>
          <p:cNvSpPr/>
          <p:nvPr/>
        </p:nvSpPr>
        <p:spPr>
          <a:xfrm>
            <a:off x="8251587" y="2651760"/>
            <a:ext cx="2954589"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DM Sans" pitchFamily="34" charset="0"/>
                <a:ea typeface="DM Sans" pitchFamily="34" charset="-122"/>
                <a:cs typeface="DM Sans" pitchFamily="34" charset="-120"/>
              </a:rPr>
              <a:t>Turn the findings into pricing advice</a:t>
            </a:r>
            <a:endParaRPr lang="en-US" sz="2000" dirty="0"/>
          </a:p>
        </p:txBody>
      </p:sp>
      <p:sp>
        <p:nvSpPr>
          <p:cNvPr id="15" name="Text 13"/>
          <p:cNvSpPr/>
          <p:nvPr/>
        </p:nvSpPr>
        <p:spPr>
          <a:xfrm>
            <a:off x="8251587" y="3388360"/>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Recommendations for the retailer, with the limits stated.</a:t>
            </a:r>
            <a:endParaRPr lang="en-US" sz="1400" dirty="0"/>
          </a:p>
        </p:txBody>
      </p:sp>
      <p:sp>
        <p:nvSpPr>
          <p:cNvPr id="16" name="Text 14"/>
          <p:cNvSpPr/>
          <p:nvPr/>
        </p:nvSpPr>
        <p:spPr>
          <a:xfrm>
            <a:off x="812800" y="6238241"/>
            <a:ext cx="30598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Mobile price prediction · 541 phones</a:t>
            </a:r>
            <a:endParaRPr lang="en-US" sz="1200" dirty="0"/>
          </a:p>
        </p:txBody>
      </p:sp>
      <p:sp>
        <p:nvSpPr>
          <p:cNvPr id="17" name="Text 15"/>
          <p:cNvSpPr/>
          <p:nvPr/>
        </p:nvSpPr>
        <p:spPr>
          <a:xfrm>
            <a:off x="11291412" y="6238241"/>
            <a:ext cx="1385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541 phones, mostly budget</a:t>
            </a:r>
            <a:endParaRPr lang="en-US" sz="3200" dirty="0"/>
          </a:p>
        </p:txBody>
      </p:sp>
      <p:sp>
        <p:nvSpPr>
          <p:cNvPr id="3" name="Shape 1"/>
          <p:cNvSpPr/>
          <p:nvPr/>
        </p:nvSpPr>
        <p:spPr>
          <a:xfrm>
            <a:off x="815975" y="1517016"/>
            <a:ext cx="2482850" cy="1709420"/>
          </a:xfrm>
          <a:prstGeom prst="roundRect">
            <a:avLst>
              <a:gd name="adj" fmla="val 5758"/>
            </a:avLst>
          </a:prstGeom>
          <a:solidFill>
            <a:srgbClr val="FFFFFF"/>
          </a:solidFill>
          <a:ln w="6350">
            <a:solidFill>
              <a:srgbClr val="E3E6E4"/>
            </a:solidFill>
            <a:prstDash val="solid"/>
          </a:ln>
        </p:spPr>
      </p:sp>
      <p:sp>
        <p:nvSpPr>
          <p:cNvPr id="4" name="Text 2"/>
          <p:cNvSpPr/>
          <p:nvPr/>
        </p:nvSpPr>
        <p:spPr>
          <a:xfrm>
            <a:off x="1021080" y="1722120"/>
            <a:ext cx="2134819"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C5CAB"/>
                </a:solidFill>
                <a:latin typeface="DM Sans" pitchFamily="34" charset="0"/>
                <a:ea typeface="DM Sans" pitchFamily="34" charset="-122"/>
                <a:cs typeface="DM Sans" pitchFamily="34" charset="-120"/>
              </a:rPr>
              <a:t>541</a:t>
            </a:r>
            <a:endParaRPr lang="en-US" sz="3600" dirty="0"/>
          </a:p>
        </p:txBody>
      </p:sp>
      <p:sp>
        <p:nvSpPr>
          <p:cNvPr id="5" name="Text 3"/>
          <p:cNvSpPr/>
          <p:nvPr/>
        </p:nvSpPr>
        <p:spPr>
          <a:xfrm>
            <a:off x="1021080" y="2301241"/>
            <a:ext cx="2134819"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phones in the dataset</a:t>
            </a:r>
            <a:endParaRPr lang="en-US" sz="1400" dirty="0"/>
          </a:p>
        </p:txBody>
      </p:sp>
      <p:sp>
        <p:nvSpPr>
          <p:cNvPr id="6" name="Shape 4"/>
          <p:cNvSpPr/>
          <p:nvPr/>
        </p:nvSpPr>
        <p:spPr>
          <a:xfrm>
            <a:off x="3508375" y="1517016"/>
            <a:ext cx="2482850" cy="1709420"/>
          </a:xfrm>
          <a:prstGeom prst="roundRect">
            <a:avLst>
              <a:gd name="adj" fmla="val 5758"/>
            </a:avLst>
          </a:prstGeom>
          <a:solidFill>
            <a:srgbClr val="FFFFFF"/>
          </a:solidFill>
          <a:ln w="6350">
            <a:solidFill>
              <a:srgbClr val="E3E6E4"/>
            </a:solidFill>
            <a:prstDash val="solid"/>
          </a:ln>
        </p:spPr>
      </p:sp>
      <p:sp>
        <p:nvSpPr>
          <p:cNvPr id="7" name="Text 5"/>
          <p:cNvSpPr/>
          <p:nvPr/>
        </p:nvSpPr>
        <p:spPr>
          <a:xfrm>
            <a:off x="3713480" y="1722120"/>
            <a:ext cx="2134819"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C5CAB"/>
                </a:solidFill>
                <a:latin typeface="DM Sans" pitchFamily="34" charset="0"/>
                <a:ea typeface="DM Sans" pitchFamily="34" charset="-122"/>
                <a:cs typeface="DM Sans" pitchFamily="34" charset="-120"/>
              </a:rPr>
              <a:t>₹13,499</a:t>
            </a:r>
            <a:endParaRPr lang="en-US" sz="3600" dirty="0"/>
          </a:p>
        </p:txBody>
      </p:sp>
      <p:sp>
        <p:nvSpPr>
          <p:cNvPr id="8" name="Text 6"/>
          <p:cNvSpPr/>
          <p:nvPr/>
        </p:nvSpPr>
        <p:spPr>
          <a:xfrm>
            <a:off x="3713480" y="2301241"/>
            <a:ext cx="2134819"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median price</a:t>
            </a:r>
            <a:endParaRPr lang="en-US" sz="1400" dirty="0"/>
          </a:p>
        </p:txBody>
      </p:sp>
      <p:sp>
        <p:nvSpPr>
          <p:cNvPr id="9" name="Shape 7"/>
          <p:cNvSpPr/>
          <p:nvPr/>
        </p:nvSpPr>
        <p:spPr>
          <a:xfrm>
            <a:off x="6200775" y="1517016"/>
            <a:ext cx="2482850" cy="1709420"/>
          </a:xfrm>
          <a:prstGeom prst="roundRect">
            <a:avLst>
              <a:gd name="adj" fmla="val 5758"/>
            </a:avLst>
          </a:prstGeom>
          <a:solidFill>
            <a:srgbClr val="FFFFFF"/>
          </a:solidFill>
          <a:ln w="6350">
            <a:solidFill>
              <a:srgbClr val="E3E6E4"/>
            </a:solidFill>
            <a:prstDash val="solid"/>
          </a:ln>
        </p:spPr>
      </p:sp>
      <p:sp>
        <p:nvSpPr>
          <p:cNvPr id="10" name="Text 8"/>
          <p:cNvSpPr/>
          <p:nvPr/>
        </p:nvSpPr>
        <p:spPr>
          <a:xfrm>
            <a:off x="6405880" y="1722120"/>
            <a:ext cx="2134819"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C5CAB"/>
                </a:solidFill>
                <a:latin typeface="DM Sans" pitchFamily="34" charset="0"/>
                <a:ea typeface="DM Sans" pitchFamily="34" charset="-122"/>
                <a:cs typeface="DM Sans" pitchFamily="34" charset="-120"/>
              </a:rPr>
              <a:t>₹16,228</a:t>
            </a:r>
            <a:endParaRPr lang="en-US" sz="3600" dirty="0"/>
          </a:p>
        </p:txBody>
      </p:sp>
      <p:sp>
        <p:nvSpPr>
          <p:cNvPr id="11" name="Text 9"/>
          <p:cNvSpPr/>
          <p:nvPr/>
        </p:nvSpPr>
        <p:spPr>
          <a:xfrm>
            <a:off x="6405880" y="2301241"/>
            <a:ext cx="2134819"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average price, pulled up by a few expensive phones</a:t>
            </a:r>
            <a:endParaRPr lang="en-US" sz="1400" dirty="0"/>
          </a:p>
        </p:txBody>
      </p:sp>
      <p:sp>
        <p:nvSpPr>
          <p:cNvPr id="12" name="Shape 10"/>
          <p:cNvSpPr/>
          <p:nvPr/>
        </p:nvSpPr>
        <p:spPr>
          <a:xfrm>
            <a:off x="8893175" y="1517016"/>
            <a:ext cx="2482850" cy="1709420"/>
          </a:xfrm>
          <a:prstGeom prst="roundRect">
            <a:avLst>
              <a:gd name="adj" fmla="val 5758"/>
            </a:avLst>
          </a:prstGeom>
          <a:solidFill>
            <a:srgbClr val="FFFFFF"/>
          </a:solidFill>
          <a:ln w="6350">
            <a:solidFill>
              <a:srgbClr val="E3E6E4"/>
            </a:solidFill>
            <a:prstDash val="solid"/>
          </a:ln>
        </p:spPr>
      </p:sp>
      <p:sp>
        <p:nvSpPr>
          <p:cNvPr id="13" name="Text 11"/>
          <p:cNvSpPr/>
          <p:nvPr/>
        </p:nvSpPr>
        <p:spPr>
          <a:xfrm>
            <a:off x="9098280" y="1722120"/>
            <a:ext cx="2134819"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C5CAB"/>
                </a:solidFill>
                <a:latin typeface="DM Sans" pitchFamily="34" charset="0"/>
                <a:ea typeface="DM Sans" pitchFamily="34" charset="-122"/>
                <a:cs typeface="DM Sans" pitchFamily="34" charset="-120"/>
              </a:rPr>
              <a:t>8</a:t>
            </a:r>
            <a:endParaRPr lang="en-US" sz="3600" dirty="0"/>
          </a:p>
        </p:txBody>
      </p:sp>
      <p:sp>
        <p:nvSpPr>
          <p:cNvPr id="14" name="Text 12"/>
          <p:cNvSpPr/>
          <p:nvPr/>
        </p:nvSpPr>
        <p:spPr>
          <a:xfrm>
            <a:off x="9098280" y="2301241"/>
            <a:ext cx="2134819"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DM Sans" pitchFamily="34" charset="0"/>
                <a:ea typeface="DM Sans" pitchFamily="34" charset="-122"/>
                <a:cs typeface="DM Sans" pitchFamily="34" charset="-120"/>
              </a:rPr>
              <a:t>phones above ₹50,000</a:t>
            </a:r>
            <a:endParaRPr lang="en-US" sz="1400" dirty="0"/>
          </a:p>
        </p:txBody>
      </p:sp>
      <p:sp>
        <p:nvSpPr>
          <p:cNvPr id="15" name="Shape 13"/>
          <p:cNvSpPr/>
          <p:nvPr/>
        </p:nvSpPr>
        <p:spPr>
          <a:xfrm>
            <a:off x="815975" y="3486786"/>
            <a:ext cx="10560050" cy="1802130"/>
          </a:xfrm>
          <a:prstGeom prst="roundRect">
            <a:avLst>
              <a:gd name="adj" fmla="val 5462"/>
            </a:avLst>
          </a:prstGeom>
          <a:solidFill>
            <a:srgbClr val="FFFFFF"/>
          </a:solidFill>
          <a:ln w="6350">
            <a:solidFill>
              <a:srgbClr val="E3E6E4"/>
            </a:solidFill>
            <a:prstDash val="solid"/>
          </a:ln>
        </p:spPr>
      </p:sp>
      <p:sp>
        <p:nvSpPr>
          <p:cNvPr id="16" name="Text 14"/>
          <p:cNvSpPr/>
          <p:nvPr/>
        </p:nvSpPr>
        <p:spPr>
          <a:xfrm>
            <a:off x="1071880" y="3742691"/>
            <a:ext cx="10349687"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DM Sans" pitchFamily="34" charset="0"/>
                <a:ea typeface="DM Sans" pitchFamily="34" charset="-122"/>
                <a:cs typeface="DM Sans" pitchFamily="34" charset="-120"/>
              </a:rPr>
              <a:t>12 raw columns:</a:t>
            </a:r>
            <a:r>
              <a:rPr lang="en-US" sz="1600" dirty="0">
                <a:solidFill>
                  <a:srgbClr val="14213D"/>
                </a:solidFill>
                <a:latin typeface="DM Sans" pitchFamily="34" charset="0"/>
                <a:ea typeface="DM Sans" pitchFamily="34" charset="-122"/>
                <a:cs typeface="DM Sans" pitchFamily="34" charset="-120"/>
              </a:rPr>
              <a:t> model, colour, memory, RAM, battery, rear and front camera, AI lens, screen height, processor and price.</a:t>
            </a:r>
            <a:endParaRPr lang="en-US" sz="1600" dirty="0"/>
          </a:p>
        </p:txBody>
      </p:sp>
      <p:sp>
        <p:nvSpPr>
          <p:cNvPr id="17" name="Text 15"/>
          <p:cNvSpPr/>
          <p:nvPr/>
        </p:nvSpPr>
        <p:spPr>
          <a:xfrm>
            <a:off x="1071880" y="4464050"/>
            <a:ext cx="10349687"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Price is right-skewed (skewness 2.4): most phones are cheap and a few are very expensive. That shape matters later, when we look at where the model misses.</a:t>
            </a:r>
            <a:endParaRPr lang="en-US" sz="1600" dirty="0"/>
          </a:p>
        </p:txBody>
      </p:sp>
      <p:sp>
        <p:nvSpPr>
          <p:cNvPr id="18" name="Text 16"/>
          <p:cNvSpPr/>
          <p:nvPr/>
        </p:nvSpPr>
        <p:spPr>
          <a:xfrm>
            <a:off x="812800" y="6238241"/>
            <a:ext cx="30598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Mobile price prediction · 541 phones</a:t>
            </a:r>
            <a:endParaRPr lang="en-US" sz="1200" dirty="0"/>
          </a:p>
        </p:txBody>
      </p:sp>
      <p:sp>
        <p:nvSpPr>
          <p:cNvPr id="19" name="Text 17"/>
          <p:cNvSpPr/>
          <p:nvPr/>
        </p:nvSpPr>
        <p:spPr>
          <a:xfrm>
            <a:off x="11289109" y="6238241"/>
            <a:ext cx="14089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123 processor labels, far fewer chips</a:t>
            </a:r>
            <a:endParaRPr lang="en-US" sz="3200" dirty="0"/>
          </a:p>
        </p:txBody>
      </p:sp>
      <p:sp>
        <p:nvSpPr>
          <p:cNvPr id="3" name="Shape 1"/>
          <p:cNvSpPr/>
          <p:nvPr/>
        </p:nvSpPr>
        <p:spPr>
          <a:xfrm>
            <a:off x="815975" y="1466216"/>
            <a:ext cx="6211570" cy="2919730"/>
          </a:xfrm>
          <a:prstGeom prst="roundRect">
            <a:avLst>
              <a:gd name="adj" fmla="val 3371"/>
            </a:avLst>
          </a:prstGeom>
          <a:solidFill>
            <a:srgbClr val="FFFFFF"/>
          </a:solidFill>
          <a:ln w="6350">
            <a:solidFill>
              <a:srgbClr val="E3E6E4"/>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056640" y="1656080"/>
          <a:ext cx="5740400" cy="2550160"/>
        </p:xfrm>
        <a:graphic>
          <a:graphicData uri="http://schemas.openxmlformats.org/drawingml/2006/table">
            <a:tbl>
              <a:tblPr/>
              <a:tblGrid>
                <a:gridCol w="2985008">
                  <a:extLst>
                    <a:ext uri="{9D8B030D-6E8A-4147-A177-3AD203B41FA5}">
                      <a16:colId xmlns:a16="http://schemas.microsoft.com/office/drawing/2014/main" val="20000"/>
                    </a:ext>
                  </a:extLst>
                </a:gridCol>
                <a:gridCol w="2755392">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Raw entry</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Standardised</a:t>
                      </a:r>
                      <a:endParaRPr lang="en-US" sz="1400" dirty="0">
                        <a:latin typeface="DM Sans" charset="0"/>
                        <a:ea typeface="DM Sans" charset="0"/>
                        <a:cs typeface="DM Sans"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Qualcomm Snapdragon 680 (SM6225)</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qualcomm snapdragon 680</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Meditek Helio G37, or just G37</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mediatek helio g37</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6 Core</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Apple A15 Bionic</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0 0 0 208MHz</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mediatek helio g95</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IOS</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Apple A13, A14 or A15 Bionic</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2800" y="4541520"/>
            <a:ext cx="6217920" cy="1137920"/>
          </a:xfrm>
          <a:prstGeom prst="roundRect">
            <a:avLst>
              <a:gd name="adj" fmla="val 8929"/>
            </a:avLst>
          </a:prstGeom>
          <a:solidFill>
            <a:srgbClr val="EAF1FB"/>
          </a:solidFill>
          <a:ln/>
        </p:spPr>
      </p:sp>
      <p:sp>
        <p:nvSpPr>
          <p:cNvPr id="6" name="Text 3"/>
          <p:cNvSpPr/>
          <p:nvPr/>
        </p:nvSpPr>
        <p:spPr>
          <a:xfrm>
            <a:off x="1041400" y="4719320"/>
            <a:ext cx="593354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Flagged and reviewed</a:t>
            </a:r>
            <a:endParaRPr lang="en-US" sz="1600" dirty="0"/>
          </a:p>
        </p:txBody>
      </p:sp>
      <p:sp>
        <p:nvSpPr>
          <p:cNvPr id="7" name="Text 4"/>
          <p:cNvSpPr/>
          <p:nvPr/>
        </p:nvSpPr>
        <p:spPr>
          <a:xfrm>
            <a:off x="1041400" y="5039361"/>
            <a:ext cx="593354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Two heights of 41.94 cm (a data-entry error), and basic feature phones with tiny batteries (real products, kept).</a:t>
            </a:r>
            <a:endParaRPr lang="en-US" sz="1300" dirty="0"/>
          </a:p>
        </p:txBody>
      </p:sp>
      <p:sp>
        <p:nvSpPr>
          <p:cNvPr id="8" name="Shape 5"/>
          <p:cNvSpPr/>
          <p:nvPr/>
        </p:nvSpPr>
        <p:spPr>
          <a:xfrm>
            <a:off x="7237095" y="1466216"/>
            <a:ext cx="4138930" cy="1604010"/>
          </a:xfrm>
          <a:prstGeom prst="roundRect">
            <a:avLst>
              <a:gd name="adj" fmla="val 6136"/>
            </a:avLst>
          </a:prstGeom>
          <a:solidFill>
            <a:srgbClr val="FFFFFF"/>
          </a:solidFill>
          <a:ln w="6350">
            <a:solidFill>
              <a:srgbClr val="E3E6E4"/>
            </a:solidFill>
            <a:prstDash val="solid"/>
          </a:ln>
        </p:spPr>
      </p:sp>
      <p:sp>
        <p:nvSpPr>
          <p:cNvPr id="9" name="Text 6"/>
          <p:cNvSpPr/>
          <p:nvPr/>
        </p:nvSpPr>
        <p:spPr>
          <a:xfrm>
            <a:off x="7467600" y="1645920"/>
            <a:ext cx="378825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Also fixed</a:t>
            </a:r>
            <a:endParaRPr lang="en-US" sz="1600" dirty="0"/>
          </a:p>
        </p:txBody>
      </p:sp>
      <p:sp>
        <p:nvSpPr>
          <p:cNvPr id="10" name="Text 7"/>
          <p:cNvSpPr/>
          <p:nvPr/>
        </p:nvSpPr>
        <p:spPr>
          <a:xfrm>
            <a:off x="7559294" y="1965961"/>
            <a:ext cx="3688944" cy="949960"/>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4A5568"/>
                </a:solidFill>
                <a:latin typeface="DM Sans" pitchFamily="34" charset="0"/>
                <a:ea typeface="DM Sans" pitchFamily="34" charset="-122"/>
                <a:cs typeface="DM Sans" pitchFamily="34" charset="-120"/>
              </a:rPr>
              <a:t>Prices stored as text with commas, now numbers</a:t>
            </a:r>
            <a:endParaRPr lang="en-US" sz="1300" dirty="0"/>
          </a:p>
          <a:p>
            <a:pPr marL="162306" indent="-162306" algn="l">
              <a:lnSpc>
                <a:spcPts val="1820"/>
              </a:lnSpc>
              <a:buSzPct val="100000"/>
              <a:buChar char="•"/>
            </a:pPr>
            <a:r>
              <a:rPr lang="en-US" sz="1300" dirty="0">
                <a:solidFill>
                  <a:srgbClr val="4A5568"/>
                </a:solidFill>
                <a:latin typeface="DM Sans" pitchFamily="34" charset="0"/>
                <a:ea typeface="DM Sans" pitchFamily="34" charset="-122"/>
                <a:cs typeface="DM Sans" pitchFamily="34" charset="-120"/>
              </a:rPr>
              <a:t>Camera values like 13MP, now 13</a:t>
            </a:r>
            <a:endParaRPr lang="en-US" sz="1300" dirty="0"/>
          </a:p>
          <a:p>
            <a:pPr marL="162306" indent="-162306" algn="l">
              <a:lnSpc>
                <a:spcPts val="1820"/>
              </a:lnSpc>
              <a:buSzPct val="100000"/>
              <a:buChar char="•"/>
            </a:pPr>
            <a:r>
              <a:rPr lang="en-US" sz="1300" dirty="0">
                <a:solidFill>
                  <a:srgbClr val="4A5568"/>
                </a:solidFill>
                <a:latin typeface="DM Sans" pitchFamily="34" charset="0"/>
                <a:ea typeface="DM Sans" pitchFamily="34" charset="-122"/>
                <a:cs typeface="DM Sans" pitchFamily="34" charset="-120"/>
              </a:rPr>
              <a:t>Stray spaces and capital letters</a:t>
            </a:r>
            <a:endParaRPr lang="en-US" sz="1300" dirty="0"/>
          </a:p>
        </p:txBody>
      </p:sp>
      <p:sp>
        <p:nvSpPr>
          <p:cNvPr id="11" name="Shape 8"/>
          <p:cNvSpPr/>
          <p:nvPr/>
        </p:nvSpPr>
        <p:spPr>
          <a:xfrm>
            <a:off x="7237095" y="3228975"/>
            <a:ext cx="4138930" cy="1604010"/>
          </a:xfrm>
          <a:prstGeom prst="roundRect">
            <a:avLst>
              <a:gd name="adj" fmla="val 6136"/>
            </a:avLst>
          </a:prstGeom>
          <a:solidFill>
            <a:srgbClr val="FFFFFF"/>
          </a:solidFill>
          <a:ln w="6350">
            <a:solidFill>
              <a:srgbClr val="E3E6E4"/>
            </a:solidFill>
            <a:prstDash val="solid"/>
          </a:ln>
        </p:spPr>
      </p:sp>
      <p:sp>
        <p:nvSpPr>
          <p:cNvPr id="12" name="Text 9"/>
          <p:cNvSpPr/>
          <p:nvPr/>
        </p:nvSpPr>
        <p:spPr>
          <a:xfrm>
            <a:off x="7467600" y="3408680"/>
            <a:ext cx="378825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Leakage check</a:t>
            </a:r>
            <a:endParaRPr lang="en-US" sz="1600" dirty="0"/>
          </a:p>
        </p:txBody>
      </p:sp>
      <p:sp>
        <p:nvSpPr>
          <p:cNvPr id="13" name="Text 10"/>
          <p:cNvSpPr/>
          <p:nvPr/>
        </p:nvSpPr>
        <p:spPr>
          <a:xfrm>
            <a:off x="7559294" y="3728720"/>
            <a:ext cx="3688944" cy="949960"/>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4A5568"/>
                </a:solidFill>
                <a:latin typeface="DM Sans" pitchFamily="34" charset="0"/>
                <a:ea typeface="DM Sans" pitchFamily="34" charset="-122"/>
                <a:cs typeface="DM Sans" pitchFamily="34" charset="-120"/>
              </a:rPr>
              <a:t>Left out the row number and PriceRange, which is built from price</a:t>
            </a:r>
            <a:endParaRPr lang="en-US" sz="1300" dirty="0"/>
          </a:p>
          <a:p>
            <a:pPr marL="162306" indent="-162306" algn="l">
              <a:lnSpc>
                <a:spcPts val="1820"/>
              </a:lnSpc>
              <a:buSzPct val="100000"/>
              <a:buChar char="•"/>
            </a:pPr>
            <a:r>
              <a:rPr lang="en-US" sz="1300" dirty="0">
                <a:solidFill>
                  <a:srgbClr val="4A5568"/>
                </a:solidFill>
                <a:latin typeface="DM Sans" pitchFamily="34" charset="0"/>
                <a:ea typeface="DM Sans" pitchFamily="34" charset="-122"/>
                <a:cs typeface="DM Sans" pitchFamily="34" charset="-120"/>
              </a:rPr>
              <a:t>Tier and Manufacturer come from the processor only</a:t>
            </a:r>
            <a:endParaRPr lang="en-US" sz="1300" dirty="0"/>
          </a:p>
        </p:txBody>
      </p:sp>
      <p:sp>
        <p:nvSpPr>
          <p:cNvPr id="14" name="Text 11"/>
          <p:cNvSpPr/>
          <p:nvPr/>
        </p:nvSpPr>
        <p:spPr>
          <a:xfrm>
            <a:off x="812800" y="6238239"/>
            <a:ext cx="30598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Mobile price prediction · 541 phones</a:t>
            </a:r>
            <a:endParaRPr lang="en-US" sz="1200" dirty="0"/>
          </a:p>
        </p:txBody>
      </p:sp>
      <p:sp>
        <p:nvSpPr>
          <p:cNvPr id="15" name="Text 12"/>
          <p:cNvSpPr/>
          <p:nvPr/>
        </p:nvSpPr>
        <p:spPr>
          <a:xfrm>
            <a:off x="11286649" y="6238239"/>
            <a:ext cx="1433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Chipset class separates prices clearly</a:t>
            </a:r>
            <a:endParaRPr lang="en-US" sz="3200" dirty="0"/>
          </a:p>
        </p:txBody>
      </p:sp>
      <p:sp>
        <p:nvSpPr>
          <p:cNvPr id="3" name="Shape 1"/>
          <p:cNvSpPr/>
          <p:nvPr/>
        </p:nvSpPr>
        <p:spPr>
          <a:xfrm>
            <a:off x="815975" y="1466214"/>
            <a:ext cx="5175250" cy="2853690"/>
          </a:xfrm>
          <a:prstGeom prst="roundRect">
            <a:avLst>
              <a:gd name="adj" fmla="val 3449"/>
            </a:avLst>
          </a:prstGeom>
          <a:solidFill>
            <a:srgbClr val="FFFFFF"/>
          </a:solidFill>
          <a:ln w="6350">
            <a:solidFill>
              <a:srgbClr val="E3E6E4"/>
            </a:solidFill>
            <a:prstDash val="solid"/>
          </a:ln>
        </p:spPr>
      </p:sp>
      <p:sp>
        <p:nvSpPr>
          <p:cNvPr id="4" name="Text 2"/>
          <p:cNvSpPr/>
          <p:nvPr/>
        </p:nvSpPr>
        <p:spPr>
          <a:xfrm>
            <a:off x="1046480" y="1696721"/>
            <a:ext cx="48556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Average price by tier (phones)</a:t>
            </a:r>
            <a:endParaRPr lang="en-US" sz="1600" dirty="0"/>
          </a:p>
        </p:txBody>
      </p:sp>
      <p:sp>
        <p:nvSpPr>
          <p:cNvPr id="5" name="Text 3"/>
          <p:cNvSpPr/>
          <p:nvPr/>
        </p:nvSpPr>
        <p:spPr>
          <a:xfrm>
            <a:off x="1046480" y="2067561"/>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Flagship (17)</a:t>
            </a:r>
            <a:endParaRPr lang="en-US" sz="1300" dirty="0"/>
          </a:p>
        </p:txBody>
      </p:sp>
      <p:sp>
        <p:nvSpPr>
          <p:cNvPr id="6" name="Shape 4"/>
          <p:cNvSpPr/>
          <p:nvPr/>
        </p:nvSpPr>
        <p:spPr>
          <a:xfrm>
            <a:off x="2824480" y="2068832"/>
            <a:ext cx="1492250" cy="228600"/>
          </a:xfrm>
          <a:custGeom>
            <a:avLst/>
            <a:gdLst/>
            <a:ahLst/>
            <a:cxnLst/>
            <a:rect l="l" t="t" r="r" b="b"/>
            <a:pathLst>
              <a:path w="1492250" h="228600">
                <a:moveTo>
                  <a:pt x="0" y="0"/>
                </a:moveTo>
                <a:lnTo>
                  <a:pt x="1466850" y="0"/>
                </a:lnTo>
                <a:arcTo wR="25400" hR="25400" stAng="16200000" swAng="5400000"/>
                <a:lnTo>
                  <a:pt x="1492250" y="203200"/>
                </a:lnTo>
                <a:arcTo wR="25400" hR="25400" stAng="0" swAng="5400000"/>
                <a:lnTo>
                  <a:pt x="0" y="228600"/>
                </a:lnTo>
                <a:lnTo>
                  <a:pt x="0" y="0"/>
                </a:lnTo>
                <a:close/>
              </a:path>
            </a:pathLst>
          </a:custGeom>
          <a:solidFill>
            <a:srgbClr val="2A78D6"/>
          </a:solidFill>
          <a:ln/>
        </p:spPr>
      </p:sp>
      <p:sp>
        <p:nvSpPr>
          <p:cNvPr id="7" name="Text 5"/>
          <p:cNvSpPr/>
          <p:nvPr/>
        </p:nvSpPr>
        <p:spPr>
          <a:xfrm>
            <a:off x="4443730" y="2067561"/>
            <a:ext cx="63026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46,799</a:t>
            </a:r>
            <a:endParaRPr lang="en-US" sz="1300" dirty="0"/>
          </a:p>
        </p:txBody>
      </p:sp>
      <p:sp>
        <p:nvSpPr>
          <p:cNvPr id="8" name="Text 6"/>
          <p:cNvSpPr/>
          <p:nvPr/>
        </p:nvSpPr>
        <p:spPr>
          <a:xfrm>
            <a:off x="1046480" y="2425700"/>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Other (160)</a:t>
            </a:r>
            <a:endParaRPr lang="en-US" sz="1300" dirty="0"/>
          </a:p>
        </p:txBody>
      </p:sp>
      <p:sp>
        <p:nvSpPr>
          <p:cNvPr id="9" name="Shape 7"/>
          <p:cNvSpPr/>
          <p:nvPr/>
        </p:nvSpPr>
        <p:spPr>
          <a:xfrm>
            <a:off x="2824480" y="2426971"/>
            <a:ext cx="736600" cy="228600"/>
          </a:xfrm>
          <a:custGeom>
            <a:avLst/>
            <a:gdLst/>
            <a:ahLst/>
            <a:cxnLst/>
            <a:rect l="l" t="t" r="r" b="b"/>
            <a:pathLst>
              <a:path w="736600" h="228600">
                <a:moveTo>
                  <a:pt x="0" y="0"/>
                </a:moveTo>
                <a:lnTo>
                  <a:pt x="711200" y="0"/>
                </a:lnTo>
                <a:arcTo wR="25400" hR="25400" stAng="16200000" swAng="5400000"/>
                <a:lnTo>
                  <a:pt x="736600" y="203200"/>
                </a:lnTo>
                <a:arcTo wR="25400" hR="25400" stAng="0" swAng="5400000"/>
                <a:lnTo>
                  <a:pt x="0" y="228600"/>
                </a:lnTo>
                <a:lnTo>
                  <a:pt x="0" y="0"/>
                </a:lnTo>
                <a:close/>
              </a:path>
            </a:pathLst>
          </a:custGeom>
          <a:solidFill>
            <a:srgbClr val="2A78D6"/>
          </a:solidFill>
          <a:ln/>
        </p:spPr>
      </p:sp>
      <p:sp>
        <p:nvSpPr>
          <p:cNvPr id="10" name="Text 8"/>
          <p:cNvSpPr/>
          <p:nvPr/>
        </p:nvSpPr>
        <p:spPr>
          <a:xfrm>
            <a:off x="3688080" y="2425700"/>
            <a:ext cx="56330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23,133</a:t>
            </a:r>
            <a:endParaRPr lang="en-US" sz="1300" dirty="0"/>
          </a:p>
        </p:txBody>
      </p:sp>
      <p:sp>
        <p:nvSpPr>
          <p:cNvPr id="11" name="Text 9"/>
          <p:cNvSpPr/>
          <p:nvPr/>
        </p:nvSpPr>
        <p:spPr>
          <a:xfrm>
            <a:off x="1046480" y="2783839"/>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Mid (133)</a:t>
            </a:r>
            <a:endParaRPr lang="en-US" sz="1300" dirty="0"/>
          </a:p>
        </p:txBody>
      </p:sp>
      <p:sp>
        <p:nvSpPr>
          <p:cNvPr id="12" name="Shape 10"/>
          <p:cNvSpPr/>
          <p:nvPr/>
        </p:nvSpPr>
        <p:spPr>
          <a:xfrm>
            <a:off x="2824480" y="2785111"/>
            <a:ext cx="514350" cy="228600"/>
          </a:xfrm>
          <a:custGeom>
            <a:avLst/>
            <a:gdLst/>
            <a:ahLst/>
            <a:cxnLst/>
            <a:rect l="l" t="t" r="r" b="b"/>
            <a:pathLst>
              <a:path w="514350" h="228600">
                <a:moveTo>
                  <a:pt x="0" y="0"/>
                </a:moveTo>
                <a:lnTo>
                  <a:pt x="488950" y="0"/>
                </a:lnTo>
                <a:arcTo wR="25400" hR="25400" stAng="16200000" swAng="5400000"/>
                <a:lnTo>
                  <a:pt x="514350" y="203200"/>
                </a:lnTo>
                <a:arcTo wR="25400" hR="25400" stAng="0" swAng="5400000"/>
                <a:lnTo>
                  <a:pt x="0" y="228600"/>
                </a:lnTo>
                <a:lnTo>
                  <a:pt x="0" y="0"/>
                </a:lnTo>
                <a:close/>
              </a:path>
            </a:pathLst>
          </a:custGeom>
          <a:solidFill>
            <a:srgbClr val="2A78D6"/>
          </a:solidFill>
          <a:ln/>
        </p:spPr>
      </p:sp>
      <p:sp>
        <p:nvSpPr>
          <p:cNvPr id="13" name="Text 11"/>
          <p:cNvSpPr/>
          <p:nvPr/>
        </p:nvSpPr>
        <p:spPr>
          <a:xfrm>
            <a:off x="3465830" y="2783839"/>
            <a:ext cx="51015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16,147</a:t>
            </a:r>
            <a:endParaRPr lang="en-US" sz="1300" dirty="0"/>
          </a:p>
        </p:txBody>
      </p:sp>
      <p:sp>
        <p:nvSpPr>
          <p:cNvPr id="14" name="Text 12"/>
          <p:cNvSpPr/>
          <p:nvPr/>
        </p:nvSpPr>
        <p:spPr>
          <a:xfrm>
            <a:off x="1046480" y="3141982"/>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Low (231)</a:t>
            </a:r>
            <a:endParaRPr lang="en-US" sz="1300" dirty="0"/>
          </a:p>
        </p:txBody>
      </p:sp>
      <p:sp>
        <p:nvSpPr>
          <p:cNvPr id="15" name="Shape 13"/>
          <p:cNvSpPr/>
          <p:nvPr/>
        </p:nvSpPr>
        <p:spPr>
          <a:xfrm>
            <a:off x="2824480" y="3143250"/>
            <a:ext cx="292100" cy="228600"/>
          </a:xfrm>
          <a:custGeom>
            <a:avLst/>
            <a:gdLst/>
            <a:ahLst/>
            <a:cxnLst/>
            <a:rect l="l" t="t" r="r" b="b"/>
            <a:pathLst>
              <a:path w="292100" h="228600">
                <a:moveTo>
                  <a:pt x="0" y="0"/>
                </a:moveTo>
                <a:lnTo>
                  <a:pt x="266700" y="0"/>
                </a:lnTo>
                <a:arcTo wR="25400" hR="25400" stAng="16200000" swAng="5400000"/>
                <a:lnTo>
                  <a:pt x="292100" y="203200"/>
                </a:lnTo>
                <a:arcTo wR="25400" hR="25400" stAng="0" swAng="5400000"/>
                <a:lnTo>
                  <a:pt x="0" y="228600"/>
                </a:lnTo>
                <a:lnTo>
                  <a:pt x="0" y="0"/>
                </a:lnTo>
                <a:close/>
              </a:path>
            </a:pathLst>
          </a:custGeom>
          <a:solidFill>
            <a:srgbClr val="2A78D6"/>
          </a:solidFill>
          <a:ln/>
        </p:spPr>
      </p:sp>
      <p:sp>
        <p:nvSpPr>
          <p:cNvPr id="16" name="Text 14"/>
          <p:cNvSpPr/>
          <p:nvPr/>
        </p:nvSpPr>
        <p:spPr>
          <a:xfrm>
            <a:off x="3243580" y="3141982"/>
            <a:ext cx="50863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9,243</a:t>
            </a:r>
            <a:endParaRPr lang="en-US" sz="1300" dirty="0"/>
          </a:p>
        </p:txBody>
      </p:sp>
      <p:sp>
        <p:nvSpPr>
          <p:cNvPr id="17" name="Shape 15"/>
          <p:cNvSpPr/>
          <p:nvPr/>
        </p:nvSpPr>
        <p:spPr>
          <a:xfrm>
            <a:off x="6200775" y="1466214"/>
            <a:ext cx="5175250" cy="2853690"/>
          </a:xfrm>
          <a:prstGeom prst="roundRect">
            <a:avLst>
              <a:gd name="adj" fmla="val 3449"/>
            </a:avLst>
          </a:prstGeom>
          <a:solidFill>
            <a:srgbClr val="FFFFFF"/>
          </a:solidFill>
          <a:ln w="6350">
            <a:solidFill>
              <a:srgbClr val="E3E6E4"/>
            </a:solidFill>
            <a:prstDash val="solid"/>
          </a:ln>
        </p:spPr>
      </p:sp>
      <p:sp>
        <p:nvSpPr>
          <p:cNvPr id="18" name="Text 16"/>
          <p:cNvSpPr/>
          <p:nvPr/>
        </p:nvSpPr>
        <p:spPr>
          <a:xfrm>
            <a:off x="6431280" y="1696721"/>
            <a:ext cx="48556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Average price by chip manufacturer (phones)</a:t>
            </a:r>
            <a:endParaRPr lang="en-US" sz="1600" dirty="0"/>
          </a:p>
        </p:txBody>
      </p:sp>
      <p:sp>
        <p:nvSpPr>
          <p:cNvPr id="19" name="Text 17"/>
          <p:cNvSpPr/>
          <p:nvPr/>
        </p:nvSpPr>
        <p:spPr>
          <a:xfrm>
            <a:off x="6431280" y="2067561"/>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Apple (5)</a:t>
            </a:r>
            <a:endParaRPr lang="en-US" sz="1300" dirty="0"/>
          </a:p>
        </p:txBody>
      </p:sp>
      <p:sp>
        <p:nvSpPr>
          <p:cNvPr id="20" name="Shape 18"/>
          <p:cNvSpPr/>
          <p:nvPr/>
        </p:nvSpPr>
        <p:spPr>
          <a:xfrm>
            <a:off x="8209280" y="2068832"/>
            <a:ext cx="2159000" cy="228600"/>
          </a:xfrm>
          <a:custGeom>
            <a:avLst/>
            <a:gdLst/>
            <a:ahLst/>
            <a:cxnLst/>
            <a:rect l="l" t="t" r="r" b="b"/>
            <a:pathLst>
              <a:path w="2159000" h="228600">
                <a:moveTo>
                  <a:pt x="0" y="0"/>
                </a:moveTo>
                <a:lnTo>
                  <a:pt x="2133600" y="0"/>
                </a:lnTo>
                <a:arcTo wR="25400" hR="25400" stAng="16200000" swAng="5400000"/>
                <a:lnTo>
                  <a:pt x="2159000" y="203200"/>
                </a:lnTo>
                <a:arcTo wR="25400" hR="25400" stAng="0" swAng="5400000"/>
                <a:lnTo>
                  <a:pt x="0" y="228600"/>
                </a:lnTo>
                <a:lnTo>
                  <a:pt x="0" y="0"/>
                </a:lnTo>
                <a:close/>
              </a:path>
            </a:pathLst>
          </a:custGeom>
          <a:solidFill>
            <a:srgbClr val="2A78D6"/>
          </a:solidFill>
          <a:ln/>
        </p:spPr>
      </p:sp>
      <p:sp>
        <p:nvSpPr>
          <p:cNvPr id="21" name="Text 19"/>
          <p:cNvSpPr/>
          <p:nvPr/>
        </p:nvSpPr>
        <p:spPr>
          <a:xfrm>
            <a:off x="10495280" y="2067561"/>
            <a:ext cx="61141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67,639</a:t>
            </a:r>
            <a:endParaRPr lang="en-US" sz="1300" dirty="0"/>
          </a:p>
        </p:txBody>
      </p:sp>
      <p:sp>
        <p:nvSpPr>
          <p:cNvPr id="22" name="Text 20"/>
          <p:cNvSpPr/>
          <p:nvPr/>
        </p:nvSpPr>
        <p:spPr>
          <a:xfrm>
            <a:off x="6431280" y="2425700"/>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Google (8)</a:t>
            </a:r>
            <a:endParaRPr lang="en-US" sz="1300" dirty="0"/>
          </a:p>
        </p:txBody>
      </p:sp>
      <p:sp>
        <p:nvSpPr>
          <p:cNvPr id="23" name="Shape 21"/>
          <p:cNvSpPr/>
          <p:nvPr/>
        </p:nvSpPr>
        <p:spPr>
          <a:xfrm>
            <a:off x="8209280" y="2426971"/>
            <a:ext cx="1428750" cy="228600"/>
          </a:xfrm>
          <a:custGeom>
            <a:avLst/>
            <a:gdLst/>
            <a:ahLst/>
            <a:cxnLst/>
            <a:rect l="l" t="t" r="r" b="b"/>
            <a:pathLst>
              <a:path w="1428750" h="228600">
                <a:moveTo>
                  <a:pt x="0" y="0"/>
                </a:moveTo>
                <a:lnTo>
                  <a:pt x="1403350" y="0"/>
                </a:lnTo>
                <a:arcTo wR="25400" hR="25400" stAng="16200000" swAng="5400000"/>
                <a:lnTo>
                  <a:pt x="1428750" y="203200"/>
                </a:lnTo>
                <a:arcTo wR="25400" hR="25400" stAng="0" swAng="5400000"/>
                <a:lnTo>
                  <a:pt x="0" y="228600"/>
                </a:lnTo>
                <a:lnTo>
                  <a:pt x="0" y="0"/>
                </a:lnTo>
                <a:close/>
              </a:path>
            </a:pathLst>
          </a:custGeom>
          <a:solidFill>
            <a:srgbClr val="2A78D6"/>
          </a:solidFill>
          <a:ln/>
        </p:spPr>
      </p:sp>
      <p:sp>
        <p:nvSpPr>
          <p:cNvPr id="24" name="Text 22"/>
          <p:cNvSpPr/>
          <p:nvPr/>
        </p:nvSpPr>
        <p:spPr>
          <a:xfrm>
            <a:off x="9765030" y="2425700"/>
            <a:ext cx="61541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44,749</a:t>
            </a:r>
            <a:endParaRPr lang="en-US" sz="1300" dirty="0"/>
          </a:p>
        </p:txBody>
      </p:sp>
      <p:sp>
        <p:nvSpPr>
          <p:cNvPr id="25" name="Text 23"/>
          <p:cNvSpPr/>
          <p:nvPr/>
        </p:nvSpPr>
        <p:spPr>
          <a:xfrm>
            <a:off x="6431280" y="2783839"/>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Qualcomm (134)</a:t>
            </a:r>
            <a:endParaRPr lang="en-US" sz="1300" dirty="0"/>
          </a:p>
        </p:txBody>
      </p:sp>
      <p:sp>
        <p:nvSpPr>
          <p:cNvPr id="26" name="Shape 24"/>
          <p:cNvSpPr/>
          <p:nvPr/>
        </p:nvSpPr>
        <p:spPr>
          <a:xfrm>
            <a:off x="8209280" y="2785111"/>
            <a:ext cx="654050" cy="228600"/>
          </a:xfrm>
          <a:custGeom>
            <a:avLst/>
            <a:gdLst/>
            <a:ahLst/>
            <a:cxnLst/>
            <a:rect l="l" t="t" r="r" b="b"/>
            <a:pathLst>
              <a:path w="654050" h="228600">
                <a:moveTo>
                  <a:pt x="0" y="0"/>
                </a:moveTo>
                <a:lnTo>
                  <a:pt x="628650" y="0"/>
                </a:lnTo>
                <a:arcTo wR="25400" hR="25400" stAng="16200000" swAng="5400000"/>
                <a:lnTo>
                  <a:pt x="654050" y="203200"/>
                </a:lnTo>
                <a:arcTo wR="25400" hR="25400" stAng="0" swAng="5400000"/>
                <a:lnTo>
                  <a:pt x="0" y="228600"/>
                </a:lnTo>
                <a:lnTo>
                  <a:pt x="0" y="0"/>
                </a:lnTo>
                <a:close/>
              </a:path>
            </a:pathLst>
          </a:custGeom>
          <a:solidFill>
            <a:srgbClr val="2A78D6"/>
          </a:solidFill>
          <a:ln/>
        </p:spPr>
      </p:sp>
      <p:sp>
        <p:nvSpPr>
          <p:cNvPr id="27" name="Text 25"/>
          <p:cNvSpPr/>
          <p:nvPr/>
        </p:nvSpPr>
        <p:spPr>
          <a:xfrm>
            <a:off x="8990330" y="2783839"/>
            <a:ext cx="62036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20,576</a:t>
            </a:r>
            <a:endParaRPr lang="en-US" sz="1300" dirty="0"/>
          </a:p>
        </p:txBody>
      </p:sp>
      <p:sp>
        <p:nvSpPr>
          <p:cNvPr id="28" name="Text 26"/>
          <p:cNvSpPr/>
          <p:nvPr/>
        </p:nvSpPr>
        <p:spPr>
          <a:xfrm>
            <a:off x="6431280" y="3141982"/>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Samsung (27)</a:t>
            </a:r>
            <a:endParaRPr lang="en-US" sz="1300" dirty="0"/>
          </a:p>
        </p:txBody>
      </p:sp>
      <p:sp>
        <p:nvSpPr>
          <p:cNvPr id="29" name="Shape 27"/>
          <p:cNvSpPr/>
          <p:nvPr/>
        </p:nvSpPr>
        <p:spPr>
          <a:xfrm>
            <a:off x="8209280" y="3143250"/>
            <a:ext cx="565150" cy="228600"/>
          </a:xfrm>
          <a:custGeom>
            <a:avLst/>
            <a:gdLst/>
            <a:ahLst/>
            <a:cxnLst/>
            <a:rect l="l" t="t" r="r" b="b"/>
            <a:pathLst>
              <a:path w="565150" h="228600">
                <a:moveTo>
                  <a:pt x="0" y="0"/>
                </a:moveTo>
                <a:lnTo>
                  <a:pt x="539750" y="0"/>
                </a:lnTo>
                <a:arcTo wR="25400" hR="25400" stAng="16200000" swAng="5400000"/>
                <a:lnTo>
                  <a:pt x="565150" y="203200"/>
                </a:lnTo>
                <a:arcTo wR="25400" hR="25400" stAng="0" swAng="5400000"/>
                <a:lnTo>
                  <a:pt x="0" y="228600"/>
                </a:lnTo>
                <a:lnTo>
                  <a:pt x="0" y="0"/>
                </a:lnTo>
                <a:close/>
              </a:path>
            </a:pathLst>
          </a:custGeom>
          <a:solidFill>
            <a:srgbClr val="2A78D6"/>
          </a:solidFill>
          <a:ln/>
        </p:spPr>
      </p:sp>
      <p:sp>
        <p:nvSpPr>
          <p:cNvPr id="30" name="Text 28"/>
          <p:cNvSpPr/>
          <p:nvPr/>
        </p:nvSpPr>
        <p:spPr>
          <a:xfrm>
            <a:off x="8901430" y="3141982"/>
            <a:ext cx="52739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17,782</a:t>
            </a:r>
            <a:endParaRPr lang="en-US" sz="1300" dirty="0"/>
          </a:p>
        </p:txBody>
      </p:sp>
      <p:sp>
        <p:nvSpPr>
          <p:cNvPr id="31" name="Text 29"/>
          <p:cNvSpPr/>
          <p:nvPr/>
        </p:nvSpPr>
        <p:spPr>
          <a:xfrm>
            <a:off x="6431280" y="3500121"/>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Mediatek (291)</a:t>
            </a:r>
            <a:endParaRPr lang="en-US" sz="1300" dirty="0"/>
          </a:p>
        </p:txBody>
      </p:sp>
      <p:sp>
        <p:nvSpPr>
          <p:cNvPr id="32" name="Shape 30"/>
          <p:cNvSpPr/>
          <p:nvPr/>
        </p:nvSpPr>
        <p:spPr>
          <a:xfrm>
            <a:off x="8209280" y="3501389"/>
            <a:ext cx="469900" cy="228600"/>
          </a:xfrm>
          <a:custGeom>
            <a:avLst/>
            <a:gdLst/>
            <a:ahLst/>
            <a:cxnLst/>
            <a:rect l="l" t="t" r="r" b="b"/>
            <a:pathLst>
              <a:path w="469900" h="228600">
                <a:moveTo>
                  <a:pt x="0" y="0"/>
                </a:moveTo>
                <a:lnTo>
                  <a:pt x="444500" y="0"/>
                </a:lnTo>
                <a:arcTo wR="25400" hR="25400" stAng="16200000" swAng="5400000"/>
                <a:lnTo>
                  <a:pt x="469900" y="203200"/>
                </a:lnTo>
                <a:arcTo wR="25400" hR="25400" stAng="0" swAng="5400000"/>
                <a:lnTo>
                  <a:pt x="0" y="228600"/>
                </a:lnTo>
                <a:lnTo>
                  <a:pt x="0" y="0"/>
                </a:lnTo>
                <a:close/>
              </a:path>
            </a:pathLst>
          </a:custGeom>
          <a:solidFill>
            <a:srgbClr val="2A78D6"/>
          </a:solidFill>
          <a:ln/>
        </p:spPr>
      </p:sp>
      <p:sp>
        <p:nvSpPr>
          <p:cNvPr id="33" name="Text 31"/>
          <p:cNvSpPr/>
          <p:nvPr/>
        </p:nvSpPr>
        <p:spPr>
          <a:xfrm>
            <a:off x="8806180" y="3500121"/>
            <a:ext cx="54702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14,722</a:t>
            </a:r>
            <a:endParaRPr lang="en-US" sz="1300" dirty="0"/>
          </a:p>
        </p:txBody>
      </p:sp>
      <p:sp>
        <p:nvSpPr>
          <p:cNvPr id="34" name="Text 32"/>
          <p:cNvSpPr/>
          <p:nvPr/>
        </p:nvSpPr>
        <p:spPr>
          <a:xfrm>
            <a:off x="6431280" y="3858261"/>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Unisoc (76)</a:t>
            </a:r>
            <a:endParaRPr lang="en-US" sz="1300" dirty="0"/>
          </a:p>
        </p:txBody>
      </p:sp>
      <p:sp>
        <p:nvSpPr>
          <p:cNvPr id="35" name="Shape 33"/>
          <p:cNvSpPr/>
          <p:nvPr/>
        </p:nvSpPr>
        <p:spPr>
          <a:xfrm>
            <a:off x="8209280" y="3859532"/>
            <a:ext cx="234950" cy="228600"/>
          </a:xfrm>
          <a:custGeom>
            <a:avLst/>
            <a:gdLst/>
            <a:ahLst/>
            <a:cxnLst/>
            <a:rect l="l" t="t" r="r" b="b"/>
            <a:pathLst>
              <a:path w="234950" h="228600">
                <a:moveTo>
                  <a:pt x="0" y="0"/>
                </a:moveTo>
                <a:lnTo>
                  <a:pt x="209550" y="0"/>
                </a:lnTo>
                <a:arcTo wR="25400" hR="25400" stAng="16200000" swAng="5400000"/>
                <a:lnTo>
                  <a:pt x="234950" y="203200"/>
                </a:lnTo>
                <a:arcTo wR="25400" hR="25400" stAng="0" swAng="5400000"/>
                <a:lnTo>
                  <a:pt x="0" y="228600"/>
                </a:lnTo>
                <a:lnTo>
                  <a:pt x="0" y="0"/>
                </a:lnTo>
                <a:close/>
              </a:path>
            </a:pathLst>
          </a:custGeom>
          <a:solidFill>
            <a:srgbClr val="2A78D6"/>
          </a:solidFill>
          <a:ln/>
        </p:spPr>
      </p:sp>
      <p:sp>
        <p:nvSpPr>
          <p:cNvPr id="36" name="Text 34"/>
          <p:cNvSpPr/>
          <p:nvPr/>
        </p:nvSpPr>
        <p:spPr>
          <a:xfrm>
            <a:off x="8571230" y="3858261"/>
            <a:ext cx="48863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7,395</a:t>
            </a:r>
            <a:endParaRPr lang="en-US" sz="1300" dirty="0"/>
          </a:p>
        </p:txBody>
      </p:sp>
      <p:sp>
        <p:nvSpPr>
          <p:cNvPr id="37" name="Text 35"/>
          <p:cNvSpPr/>
          <p:nvPr/>
        </p:nvSpPr>
        <p:spPr>
          <a:xfrm>
            <a:off x="812800" y="4526282"/>
            <a:ext cx="10883392" cy="865504"/>
          </a:xfrm>
          <a:prstGeom prst="rect">
            <a:avLst/>
          </a:prstGeom>
          <a:noFill/>
          <a:ln/>
        </p:spPr>
        <p:txBody>
          <a:bodyPr wrap="square" lIns="0" tIns="0" rIns="0" bIns="0" rtlCol="0" anchor="t">
            <a:noAutofit/>
          </a:bodyPr>
          <a:lstStyle/>
          <a:p>
            <a:pPr>
              <a:lnSpc>
                <a:spcPts val="2100"/>
              </a:lnSpc>
            </a:pPr>
            <a:r>
              <a:rPr lang="en-US" sz="1600" dirty="0">
                <a:solidFill>
                  <a:srgbClr val="4A5568"/>
                </a:solidFill>
                <a:latin typeface="DM Sans" pitchFamily="34" charset="0"/>
                <a:ea typeface="DM Sans" pitchFamily="34" charset="-122"/>
                <a:cs typeface="DM Sans" pitchFamily="34" charset="-120"/>
              </a:rPr>
              <a:t>Tier and Manufacturer are both built from the processor name, never from price. Tier separates price bands more cleanly, because one manufacturer (e.g. Qualcomm) spans budget to flagship chips. Brackets show phone counts; Apple (5) and Google (8) are small samples.</a:t>
            </a:r>
            <a:endParaRPr lang="en-US" sz="1600" dirty="0"/>
          </a:p>
        </p:txBody>
      </p:sp>
      <p:sp>
        <p:nvSpPr>
          <p:cNvPr id="38" name="Text 36"/>
          <p:cNvSpPr/>
          <p:nvPr/>
        </p:nvSpPr>
        <p:spPr>
          <a:xfrm>
            <a:off x="812800" y="6238239"/>
            <a:ext cx="41049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Average price in rupees · mobile price prediction</a:t>
            </a:r>
            <a:endParaRPr lang="en-US" sz="1200" dirty="0"/>
          </a:p>
        </p:txBody>
      </p:sp>
      <p:sp>
        <p:nvSpPr>
          <p:cNvPr id="39" name="Text 37"/>
          <p:cNvSpPr/>
          <p:nvPr/>
        </p:nvSpPr>
        <p:spPr>
          <a:xfrm>
            <a:off x="11286172" y="6238239"/>
            <a:ext cx="1438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Seven models against a simple baseline</a:t>
            </a:r>
            <a:endParaRPr lang="en-US" sz="3200" dirty="0"/>
          </a:p>
        </p:txBody>
      </p:sp>
      <p:sp>
        <p:nvSpPr>
          <p:cNvPr id="3" name="Shape 1"/>
          <p:cNvSpPr/>
          <p:nvPr/>
        </p:nvSpPr>
        <p:spPr>
          <a:xfrm>
            <a:off x="815975" y="1491614"/>
            <a:ext cx="2520950" cy="1471930"/>
          </a:xfrm>
          <a:prstGeom prst="roundRect">
            <a:avLst>
              <a:gd name="adj" fmla="val 6687"/>
            </a:avLst>
          </a:prstGeom>
          <a:solidFill>
            <a:srgbClr val="FFFFFF"/>
          </a:solidFill>
          <a:ln w="6350">
            <a:solidFill>
              <a:srgbClr val="E3E6E4"/>
            </a:solidFill>
            <a:prstDash val="solid"/>
          </a:ln>
        </p:spPr>
      </p:sp>
      <p:sp>
        <p:nvSpPr>
          <p:cNvPr id="4" name="Text 2"/>
          <p:cNvSpPr/>
          <p:nvPr/>
        </p:nvSpPr>
        <p:spPr>
          <a:xfrm>
            <a:off x="1021080" y="1696721"/>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1 · SPLIT</a:t>
            </a:r>
            <a:endParaRPr lang="en-US" sz="1200" dirty="0"/>
          </a:p>
        </p:txBody>
      </p:sp>
      <p:sp>
        <p:nvSpPr>
          <p:cNvPr id="5" name="Text 3"/>
          <p:cNvSpPr/>
          <p:nvPr/>
        </p:nvSpPr>
        <p:spPr>
          <a:xfrm>
            <a:off x="1021080" y="2011682"/>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80% to train (432 phones), 20% held back to test (109)</a:t>
            </a:r>
            <a:endParaRPr lang="en-US" sz="1400" dirty="0"/>
          </a:p>
        </p:txBody>
      </p:sp>
      <p:sp>
        <p:nvSpPr>
          <p:cNvPr id="6" name="Shape 4"/>
          <p:cNvSpPr/>
          <p:nvPr/>
        </p:nvSpPr>
        <p:spPr>
          <a:xfrm>
            <a:off x="3495675" y="1491614"/>
            <a:ext cx="2520950" cy="1471930"/>
          </a:xfrm>
          <a:prstGeom prst="roundRect">
            <a:avLst>
              <a:gd name="adj" fmla="val 6687"/>
            </a:avLst>
          </a:prstGeom>
          <a:solidFill>
            <a:srgbClr val="FFFFFF"/>
          </a:solidFill>
          <a:ln w="6350">
            <a:solidFill>
              <a:srgbClr val="E3E6E4"/>
            </a:solidFill>
            <a:prstDash val="solid"/>
          </a:ln>
        </p:spPr>
      </p:sp>
      <p:sp>
        <p:nvSpPr>
          <p:cNvPr id="7" name="Text 5"/>
          <p:cNvSpPr/>
          <p:nvPr/>
        </p:nvSpPr>
        <p:spPr>
          <a:xfrm>
            <a:off x="3700780" y="1696721"/>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2 · ENCODE</a:t>
            </a:r>
            <a:endParaRPr lang="en-US" sz="1200" dirty="0"/>
          </a:p>
        </p:txBody>
      </p:sp>
      <p:sp>
        <p:nvSpPr>
          <p:cNvPr id="8" name="Text 6"/>
          <p:cNvSpPr/>
          <p:nvPr/>
        </p:nvSpPr>
        <p:spPr>
          <a:xfrm>
            <a:off x="3700780" y="2011682"/>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One-hot encode the 3 text columns, fitted on training data only</a:t>
            </a:r>
            <a:endParaRPr lang="en-US" sz="1400" dirty="0"/>
          </a:p>
        </p:txBody>
      </p:sp>
      <p:sp>
        <p:nvSpPr>
          <p:cNvPr id="9" name="Shape 7"/>
          <p:cNvSpPr/>
          <p:nvPr/>
        </p:nvSpPr>
        <p:spPr>
          <a:xfrm>
            <a:off x="6175375" y="1491614"/>
            <a:ext cx="2520950" cy="1471930"/>
          </a:xfrm>
          <a:prstGeom prst="roundRect">
            <a:avLst>
              <a:gd name="adj" fmla="val 6687"/>
            </a:avLst>
          </a:prstGeom>
          <a:solidFill>
            <a:srgbClr val="FFFFFF"/>
          </a:solidFill>
          <a:ln w="6350">
            <a:solidFill>
              <a:srgbClr val="E3E6E4"/>
            </a:solidFill>
            <a:prstDash val="solid"/>
          </a:ln>
        </p:spPr>
      </p:sp>
      <p:sp>
        <p:nvSpPr>
          <p:cNvPr id="10" name="Text 8"/>
          <p:cNvSpPr/>
          <p:nvPr/>
        </p:nvSpPr>
        <p:spPr>
          <a:xfrm>
            <a:off x="6380480" y="1696721"/>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3 · TRAIN</a:t>
            </a:r>
            <a:endParaRPr lang="en-US" sz="1200" dirty="0"/>
          </a:p>
        </p:txBody>
      </p:sp>
      <p:sp>
        <p:nvSpPr>
          <p:cNvPr id="11" name="Text 9"/>
          <p:cNvSpPr/>
          <p:nvPr/>
        </p:nvSpPr>
        <p:spPr>
          <a:xfrm>
            <a:off x="6380480" y="2011682"/>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Seven models, with Linear Regression as the baseline to beat</a:t>
            </a:r>
            <a:endParaRPr lang="en-US" sz="1400" dirty="0"/>
          </a:p>
        </p:txBody>
      </p:sp>
      <p:sp>
        <p:nvSpPr>
          <p:cNvPr id="12" name="Shape 10"/>
          <p:cNvSpPr/>
          <p:nvPr/>
        </p:nvSpPr>
        <p:spPr>
          <a:xfrm>
            <a:off x="8855075" y="1491614"/>
            <a:ext cx="2520950" cy="1471930"/>
          </a:xfrm>
          <a:prstGeom prst="roundRect">
            <a:avLst>
              <a:gd name="adj" fmla="val 6687"/>
            </a:avLst>
          </a:prstGeom>
          <a:solidFill>
            <a:srgbClr val="FFFFFF"/>
          </a:solidFill>
          <a:ln w="6350">
            <a:solidFill>
              <a:srgbClr val="E3E6E4"/>
            </a:solidFill>
            <a:prstDash val="solid"/>
          </a:ln>
        </p:spPr>
      </p:sp>
      <p:sp>
        <p:nvSpPr>
          <p:cNvPr id="13" name="Text 11"/>
          <p:cNvSpPr/>
          <p:nvPr/>
        </p:nvSpPr>
        <p:spPr>
          <a:xfrm>
            <a:off x="9060180" y="1696721"/>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4 · SCORE</a:t>
            </a:r>
            <a:endParaRPr lang="en-US" sz="1200" dirty="0"/>
          </a:p>
        </p:txBody>
      </p:sp>
      <p:sp>
        <p:nvSpPr>
          <p:cNvPr id="14" name="Text 12"/>
          <p:cNvSpPr/>
          <p:nvPr/>
        </p:nvSpPr>
        <p:spPr>
          <a:xfrm>
            <a:off x="9060180" y="2011682"/>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R², MAE and RMSE on the test set, then 5-fold cross-validation</a:t>
            </a:r>
            <a:endParaRPr lang="en-US" sz="1400" dirty="0"/>
          </a:p>
        </p:txBody>
      </p:sp>
      <p:sp>
        <p:nvSpPr>
          <p:cNvPr id="15" name="Text 13"/>
          <p:cNvSpPr/>
          <p:nvPr/>
        </p:nvSpPr>
        <p:spPr>
          <a:xfrm>
            <a:off x="812800" y="3195321"/>
            <a:ext cx="2811621" cy="401320"/>
          </a:xfrm>
          <a:prstGeom prst="roundRect">
            <a:avLst>
              <a:gd name="adj" fmla="val 50000"/>
            </a:avLst>
          </a:prstGeom>
          <a:solidFill>
            <a:srgbClr val="14213D"/>
          </a:solidFill>
          <a:ln/>
        </p:spPr>
        <p:txBody>
          <a:bodyPr wrap="none" lIns="0" tIns="0" rIns="0" bIns="0" rtlCol="0" anchor="ctr">
            <a:normAutofit/>
          </a:bodyPr>
          <a:lstStyle/>
          <a:p>
            <a:pPr marL="0" indent="0" algn="ctr">
              <a:lnSpc>
                <a:spcPts val="1960"/>
              </a:lnSpc>
              <a:buNone/>
            </a:pPr>
            <a:r>
              <a:rPr lang="en-US" sz="1400" b="1" dirty="0">
                <a:solidFill>
                  <a:srgbClr val="F4F1EA"/>
                </a:solidFill>
                <a:latin typeface="DM Sans" pitchFamily="34" charset="0"/>
                <a:ea typeface="DM Sans" pitchFamily="34" charset="-122"/>
                <a:cs typeface="DM Sans" pitchFamily="34" charset="-120"/>
              </a:rPr>
              <a:t>Linear Regression (baseline)</a:t>
            </a:r>
            <a:endParaRPr lang="en-US" sz="1400" dirty="0"/>
          </a:p>
        </p:txBody>
      </p:sp>
      <p:sp>
        <p:nvSpPr>
          <p:cNvPr id="16" name="Text 14"/>
          <p:cNvSpPr/>
          <p:nvPr/>
        </p:nvSpPr>
        <p:spPr>
          <a:xfrm>
            <a:off x="3726021" y="3195321"/>
            <a:ext cx="1464072" cy="401320"/>
          </a:xfrm>
          <a:prstGeom prst="roundRect">
            <a:avLst>
              <a:gd name="adj" fmla="val 50000"/>
            </a:avLst>
          </a:prstGeom>
          <a:solidFill>
            <a:srgbClr val="EAF1FB"/>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DM Sans" pitchFamily="34" charset="0"/>
                <a:ea typeface="DM Sans" pitchFamily="34" charset="-122"/>
                <a:cs typeface="DM Sans" pitchFamily="34" charset="-120"/>
              </a:rPr>
              <a:t>Decision Tree</a:t>
            </a:r>
            <a:endParaRPr lang="en-US" sz="1400" dirty="0"/>
          </a:p>
        </p:txBody>
      </p:sp>
      <p:sp>
        <p:nvSpPr>
          <p:cNvPr id="17" name="Text 15"/>
          <p:cNvSpPr/>
          <p:nvPr/>
        </p:nvSpPr>
        <p:spPr>
          <a:xfrm>
            <a:off x="5291693" y="3195321"/>
            <a:ext cx="1595438" cy="401320"/>
          </a:xfrm>
          <a:prstGeom prst="roundRect">
            <a:avLst>
              <a:gd name="adj" fmla="val 50000"/>
            </a:avLst>
          </a:prstGeom>
          <a:solidFill>
            <a:srgbClr val="EAF1FB"/>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DM Sans" pitchFamily="34" charset="0"/>
                <a:ea typeface="DM Sans" pitchFamily="34" charset="-122"/>
                <a:cs typeface="DM Sans" pitchFamily="34" charset="-120"/>
              </a:rPr>
              <a:t>Random Forest</a:t>
            </a:r>
            <a:endParaRPr lang="en-US" sz="1400" dirty="0"/>
          </a:p>
        </p:txBody>
      </p:sp>
      <p:sp>
        <p:nvSpPr>
          <p:cNvPr id="18" name="Text 16"/>
          <p:cNvSpPr/>
          <p:nvPr/>
        </p:nvSpPr>
        <p:spPr>
          <a:xfrm>
            <a:off x="6988731" y="3195321"/>
            <a:ext cx="1267063" cy="401320"/>
          </a:xfrm>
          <a:prstGeom prst="roundRect">
            <a:avLst>
              <a:gd name="adj" fmla="val 50000"/>
            </a:avLst>
          </a:prstGeom>
          <a:solidFill>
            <a:srgbClr val="EAF1FB"/>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DM Sans" pitchFamily="34" charset="0"/>
                <a:ea typeface="DM Sans" pitchFamily="34" charset="-122"/>
                <a:cs typeface="DM Sans" pitchFamily="34" charset="-120"/>
              </a:rPr>
              <a:t>Extra Trees</a:t>
            </a:r>
            <a:endParaRPr lang="en-US" sz="1400" dirty="0"/>
          </a:p>
        </p:txBody>
      </p:sp>
      <p:sp>
        <p:nvSpPr>
          <p:cNvPr id="19" name="Text 17"/>
          <p:cNvSpPr/>
          <p:nvPr/>
        </p:nvSpPr>
        <p:spPr>
          <a:xfrm>
            <a:off x="8357394" y="3195321"/>
            <a:ext cx="1844199" cy="401320"/>
          </a:xfrm>
          <a:prstGeom prst="roundRect">
            <a:avLst>
              <a:gd name="adj" fmla="val 50000"/>
            </a:avLst>
          </a:prstGeom>
          <a:solidFill>
            <a:srgbClr val="EAF1FB"/>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DM Sans" pitchFamily="34" charset="0"/>
                <a:ea typeface="DM Sans" pitchFamily="34" charset="-122"/>
                <a:cs typeface="DM Sans" pitchFamily="34" charset="-120"/>
              </a:rPr>
              <a:t>Gradient Boosting</a:t>
            </a:r>
            <a:endParaRPr lang="en-US" sz="1400" dirty="0"/>
          </a:p>
        </p:txBody>
      </p:sp>
      <p:sp>
        <p:nvSpPr>
          <p:cNvPr id="20" name="Text 18"/>
          <p:cNvSpPr/>
          <p:nvPr/>
        </p:nvSpPr>
        <p:spPr>
          <a:xfrm>
            <a:off x="812800" y="3698239"/>
            <a:ext cx="1150223" cy="401320"/>
          </a:xfrm>
          <a:prstGeom prst="roundRect">
            <a:avLst>
              <a:gd name="adj" fmla="val 50000"/>
            </a:avLst>
          </a:prstGeom>
          <a:solidFill>
            <a:srgbClr val="EAF1FB"/>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DM Sans" pitchFamily="34" charset="0"/>
                <a:ea typeface="DM Sans" pitchFamily="34" charset="-122"/>
                <a:cs typeface="DM Sans" pitchFamily="34" charset="-120"/>
              </a:rPr>
              <a:t>AdaBoost</a:t>
            </a:r>
            <a:endParaRPr lang="en-US" sz="1400" dirty="0"/>
          </a:p>
        </p:txBody>
      </p:sp>
      <p:sp>
        <p:nvSpPr>
          <p:cNvPr id="21" name="Text 19"/>
          <p:cNvSpPr/>
          <p:nvPr/>
        </p:nvSpPr>
        <p:spPr>
          <a:xfrm>
            <a:off x="2064623" y="3698239"/>
            <a:ext cx="1062355" cy="401320"/>
          </a:xfrm>
          <a:prstGeom prst="roundRect">
            <a:avLst>
              <a:gd name="adj" fmla="val 50000"/>
            </a:avLst>
          </a:prstGeom>
          <a:solidFill>
            <a:srgbClr val="EAF1FB"/>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DM Sans" pitchFamily="34" charset="0"/>
                <a:ea typeface="DM Sans" pitchFamily="34" charset="-122"/>
                <a:cs typeface="DM Sans" pitchFamily="34" charset="-120"/>
              </a:rPr>
              <a:t>XGBoost</a:t>
            </a:r>
            <a:endParaRPr lang="en-US" sz="1400" dirty="0"/>
          </a:p>
        </p:txBody>
      </p:sp>
      <p:sp>
        <p:nvSpPr>
          <p:cNvPr id="22" name="Text 20"/>
          <p:cNvSpPr/>
          <p:nvPr/>
        </p:nvSpPr>
        <p:spPr>
          <a:xfrm>
            <a:off x="812800" y="4328161"/>
            <a:ext cx="10883392"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4A5568"/>
                </a:solidFill>
                <a:latin typeface="DM Sans" pitchFamily="34" charset="0"/>
                <a:ea typeface="DM Sans" pitchFamily="34" charset="-122"/>
                <a:cs typeface="DM Sans" pitchFamily="34" charset="-120"/>
              </a:rPr>
              <a:t>R²</a:t>
            </a:r>
            <a:r>
              <a:rPr lang="en-US" sz="1400" dirty="0">
                <a:solidFill>
                  <a:srgbClr val="4A5568"/>
                </a:solidFill>
                <a:latin typeface="DM Sans" pitchFamily="34" charset="0"/>
                <a:ea typeface="DM Sans" pitchFamily="34" charset="-122"/>
                <a:cs typeface="DM Sans" pitchFamily="34" charset="-120"/>
              </a:rPr>
              <a:t> is the share of price variation explained (1 is perfect). </a:t>
            </a:r>
            <a:r>
              <a:rPr lang="en-US" sz="1400" b="1" dirty="0">
                <a:solidFill>
                  <a:srgbClr val="4A5568"/>
                </a:solidFill>
                <a:latin typeface="DM Sans" pitchFamily="34" charset="0"/>
                <a:ea typeface="DM Sans" pitchFamily="34" charset="-122"/>
                <a:cs typeface="DM Sans" pitchFamily="34" charset="-120"/>
              </a:rPr>
              <a:t>MAE</a:t>
            </a:r>
            <a:r>
              <a:rPr lang="en-US" sz="1400" dirty="0">
                <a:solidFill>
                  <a:srgbClr val="4A5568"/>
                </a:solidFill>
                <a:latin typeface="DM Sans" pitchFamily="34" charset="0"/>
                <a:ea typeface="DM Sans" pitchFamily="34" charset="-122"/>
                <a:cs typeface="DM Sans" pitchFamily="34" charset="-120"/>
              </a:rPr>
              <a:t> is the typical miss in rupees. </a:t>
            </a:r>
            <a:r>
              <a:rPr lang="en-US" sz="1400" b="1" dirty="0">
                <a:solidFill>
                  <a:srgbClr val="4A5568"/>
                </a:solidFill>
                <a:latin typeface="DM Sans" pitchFamily="34" charset="0"/>
                <a:ea typeface="DM Sans" pitchFamily="34" charset="-122"/>
                <a:cs typeface="DM Sans" pitchFamily="34" charset="-120"/>
              </a:rPr>
              <a:t>RMSE</a:t>
            </a:r>
            <a:r>
              <a:rPr lang="en-US" sz="1400" dirty="0">
                <a:solidFill>
                  <a:srgbClr val="4A5568"/>
                </a:solidFill>
                <a:latin typeface="DM Sans" pitchFamily="34" charset="0"/>
                <a:ea typeface="DM Sans" pitchFamily="34" charset="-122"/>
                <a:cs typeface="DM Sans" pitchFamily="34" charset="-120"/>
              </a:rPr>
              <a:t> is like MAE but punishes big misses more.</a:t>
            </a:r>
            <a:endParaRPr lang="en-US" sz="1400" dirty="0"/>
          </a:p>
        </p:txBody>
      </p:sp>
      <p:sp>
        <p:nvSpPr>
          <p:cNvPr id="23" name="Text 21"/>
          <p:cNvSpPr/>
          <p:nvPr/>
        </p:nvSpPr>
        <p:spPr>
          <a:xfrm>
            <a:off x="812800" y="6238239"/>
            <a:ext cx="30598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Mobile price prediction · 541 phones</a:t>
            </a:r>
            <a:endParaRPr lang="en-US" sz="1200" dirty="0"/>
          </a:p>
        </p:txBody>
      </p:sp>
      <p:sp>
        <p:nvSpPr>
          <p:cNvPr id="24" name="Text 22"/>
          <p:cNvSpPr/>
          <p:nvPr/>
        </p:nvSpPr>
        <p:spPr>
          <a:xfrm>
            <a:off x="11283474" y="6238239"/>
            <a:ext cx="1465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Test results: XGBoost leads on every metric</a:t>
            </a:r>
            <a:endParaRPr lang="en-US" sz="3200" dirty="0"/>
          </a:p>
        </p:txBody>
      </p:sp>
      <p:sp>
        <p:nvSpPr>
          <p:cNvPr id="3" name="Shape 1"/>
          <p:cNvSpPr/>
          <p:nvPr/>
        </p:nvSpPr>
        <p:spPr>
          <a:xfrm>
            <a:off x="815975" y="1466214"/>
            <a:ext cx="6398498" cy="3729990"/>
          </a:xfrm>
          <a:prstGeom prst="roundRect">
            <a:avLst>
              <a:gd name="adj" fmla="val 2639"/>
            </a:avLst>
          </a:prstGeom>
          <a:solidFill>
            <a:srgbClr val="FFFFFF"/>
          </a:solidFill>
          <a:ln w="6350">
            <a:solidFill>
              <a:srgbClr val="E3E6E4"/>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056640" y="1656081"/>
          <a:ext cx="5927328" cy="3068320"/>
        </p:xfrm>
        <a:graphic>
          <a:graphicData uri="http://schemas.openxmlformats.org/drawingml/2006/table">
            <a:tbl>
              <a:tblPr/>
              <a:tblGrid>
                <a:gridCol w="2370931">
                  <a:extLst>
                    <a:ext uri="{9D8B030D-6E8A-4147-A177-3AD203B41FA5}">
                      <a16:colId xmlns:a16="http://schemas.microsoft.com/office/drawing/2014/main" val="20000"/>
                    </a:ext>
                  </a:extLst>
                </a:gridCol>
                <a:gridCol w="1066919">
                  <a:extLst>
                    <a:ext uri="{9D8B030D-6E8A-4147-A177-3AD203B41FA5}">
                      <a16:colId xmlns:a16="http://schemas.microsoft.com/office/drawing/2014/main" val="20001"/>
                    </a:ext>
                  </a:extLst>
                </a:gridCol>
                <a:gridCol w="1244739">
                  <a:extLst>
                    <a:ext uri="{9D8B030D-6E8A-4147-A177-3AD203B41FA5}">
                      <a16:colId xmlns:a16="http://schemas.microsoft.com/office/drawing/2014/main" val="20002"/>
                    </a:ext>
                  </a:extLst>
                </a:gridCol>
                <a:gridCol w="1244739">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Model</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R²</a:t>
                      </a:r>
                      <a:endParaRPr lang="en-US" sz="1400" dirty="0">
                        <a:latin typeface="DM Sans" charset="0"/>
                        <a:ea typeface="DM Sans" charset="0"/>
                        <a:cs typeface="DM Sans"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MAE (₹)</a:t>
                      </a:r>
                      <a:endParaRPr lang="en-US" sz="1400" dirty="0">
                        <a:latin typeface="DM Sans" charset="0"/>
                        <a:ea typeface="DM Sans" charset="0"/>
                        <a:cs typeface="DM Sans"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RMSE (₹)</a:t>
                      </a:r>
                      <a:endParaRPr lang="en-US" sz="1400" dirty="0">
                        <a:latin typeface="DM Sans" charset="0"/>
                        <a:ea typeface="DM Sans" charset="0"/>
                        <a:cs typeface="DM Sans"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XGBoost</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AB8B0"/>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AB8B0"/>
                      </a:solidFill>
                      <a:prstDash val="solid"/>
                      <a:round/>
                      <a:headEnd type="none" w="med" len="med"/>
                      <a:tailEnd type="none" w="med" len="med"/>
                    </a:lnB>
                    <a:solidFill>
                      <a:srgbClr val="FDE6DC"/>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0.904</a:t>
                      </a:r>
                      <a:endParaRPr lang="en-US" sz="1400" dirty="0">
                        <a:latin typeface="DM Sans" charset="0"/>
                        <a:ea typeface="DM Sans" charset="0"/>
                        <a:cs typeface="DM Sans" charset="0"/>
                      </a:endParaRPr>
                    </a:p>
                  </a:txBody>
                  <a:tcPr marL="62230" marR="62230" marT="62230" marB="62230">
                    <a:lnL w="12700" cap="flat" cmpd="sng" algn="ctr">
                      <a:solidFill>
                        <a:srgbClr val="CAB8B0"/>
                      </a:solidFill>
                      <a:prstDash val="solid"/>
                      <a:round/>
                      <a:headEnd type="none" w="med" len="med"/>
                      <a:tailEnd type="none" w="med" len="med"/>
                    </a:lnL>
                    <a:lnR w="12700" cap="flat" cmpd="sng" algn="ctr">
                      <a:solidFill>
                        <a:srgbClr val="CAB8B0"/>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AB8B0"/>
                      </a:solidFill>
                      <a:prstDash val="solid"/>
                      <a:round/>
                      <a:headEnd type="none" w="med" len="med"/>
                      <a:tailEnd type="none" w="med" len="med"/>
                    </a:lnB>
                    <a:solidFill>
                      <a:srgbClr val="FDE6DC"/>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1,126</a:t>
                      </a:r>
                      <a:endParaRPr lang="en-US" sz="1400" dirty="0">
                        <a:latin typeface="DM Sans" charset="0"/>
                        <a:ea typeface="DM Sans" charset="0"/>
                        <a:cs typeface="DM Sans" charset="0"/>
                      </a:endParaRPr>
                    </a:p>
                  </a:txBody>
                  <a:tcPr marL="62230" marR="62230" marT="62230" marB="62230">
                    <a:lnL w="12700" cap="flat" cmpd="sng" algn="ctr">
                      <a:solidFill>
                        <a:srgbClr val="CAB8B0"/>
                      </a:solidFill>
                      <a:prstDash val="solid"/>
                      <a:round/>
                      <a:headEnd type="none" w="med" len="med"/>
                      <a:tailEnd type="none" w="med" len="med"/>
                    </a:lnL>
                    <a:lnR w="12700" cap="flat" cmpd="sng" algn="ctr">
                      <a:solidFill>
                        <a:srgbClr val="CAB8B0"/>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AB8B0"/>
                      </a:solidFill>
                      <a:prstDash val="solid"/>
                      <a:round/>
                      <a:headEnd type="none" w="med" len="med"/>
                      <a:tailEnd type="none" w="med" len="med"/>
                    </a:lnB>
                    <a:solidFill>
                      <a:srgbClr val="FDE6DC"/>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3,639</a:t>
                      </a:r>
                      <a:endParaRPr lang="en-US" sz="1400" dirty="0">
                        <a:latin typeface="DM Sans" charset="0"/>
                        <a:ea typeface="DM Sans" charset="0"/>
                        <a:cs typeface="DM Sans" charset="0"/>
                      </a:endParaRPr>
                    </a:p>
                  </a:txBody>
                  <a:tcPr marL="62230" marR="62230" marT="62230" marB="62230">
                    <a:lnL w="12700" cap="flat" cmpd="sng" algn="ctr">
                      <a:solidFill>
                        <a:srgbClr val="CAB8B0"/>
                      </a:solidFill>
                      <a:prstDash val="solid"/>
                      <a:round/>
                      <a:headEnd type="none" w="med" len="med"/>
                      <a:tailEnd type="none" w="med" len="med"/>
                    </a:lnL>
                    <a:lnR w="12700" cap="flat" cmpd="sng" algn="ctr">
                      <a:solidFill>
                        <a:srgbClr val="CAB8B0"/>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AB8B0"/>
                      </a:solidFill>
                      <a:prstDash val="solid"/>
                      <a:round/>
                      <a:headEnd type="none" w="med" len="med"/>
                      <a:tailEnd type="none" w="med" len="med"/>
                    </a:lnB>
                    <a:solidFill>
                      <a:srgbClr val="FDE6DC"/>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Decision Tree</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0.868</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1,206</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4,261</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Gradient Boosting</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0.863</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1,948</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4,342</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Random Forest</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0.856</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1,534</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4,454</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Linear (baseline)</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0.834</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1,917</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4,779</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Extra Trees</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0.823</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1,165</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4,935</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AdaBoost</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0.728</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4,304</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6,126</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7424024" y="1466214"/>
            <a:ext cx="3952002" cy="1080135"/>
          </a:xfrm>
          <a:prstGeom prst="roundRect">
            <a:avLst>
              <a:gd name="adj" fmla="val 9112"/>
            </a:avLst>
          </a:prstGeom>
          <a:solidFill>
            <a:srgbClr val="FFFFFF"/>
          </a:solidFill>
          <a:ln w="6350">
            <a:solidFill>
              <a:srgbClr val="E3E6E4"/>
            </a:solidFill>
            <a:prstDash val="solid"/>
          </a:ln>
        </p:spPr>
      </p:sp>
      <p:sp>
        <p:nvSpPr>
          <p:cNvPr id="6" name="Text 3"/>
          <p:cNvSpPr/>
          <p:nvPr/>
        </p:nvSpPr>
        <p:spPr>
          <a:xfrm>
            <a:off x="7654528" y="1645921"/>
            <a:ext cx="359572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C5CAB"/>
                </a:solidFill>
                <a:latin typeface="DM Sans" pitchFamily="34" charset="0"/>
                <a:ea typeface="DM Sans" pitchFamily="34" charset="-122"/>
                <a:cs typeface="DM Sans" pitchFamily="34" charset="-120"/>
              </a:rPr>
              <a:t>0.904</a:t>
            </a:r>
            <a:endParaRPr lang="en-US" sz="3200" dirty="0"/>
          </a:p>
        </p:txBody>
      </p:sp>
      <p:sp>
        <p:nvSpPr>
          <p:cNvPr id="7" name="Text 4"/>
          <p:cNvSpPr/>
          <p:nvPr/>
        </p:nvSpPr>
        <p:spPr>
          <a:xfrm>
            <a:off x="7654528" y="2143761"/>
            <a:ext cx="3595722"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DM Sans" pitchFamily="34" charset="0"/>
                <a:ea typeface="DM Sans" pitchFamily="34" charset="-122"/>
                <a:cs typeface="DM Sans" pitchFamily="34" charset="-120"/>
              </a:rPr>
              <a:t>R²: share of price variation explained</a:t>
            </a:r>
            <a:endParaRPr lang="en-US" sz="1300" dirty="0"/>
          </a:p>
        </p:txBody>
      </p:sp>
      <p:sp>
        <p:nvSpPr>
          <p:cNvPr id="8" name="Shape 5"/>
          <p:cNvSpPr/>
          <p:nvPr/>
        </p:nvSpPr>
        <p:spPr>
          <a:xfrm>
            <a:off x="7424024" y="2679700"/>
            <a:ext cx="3952002" cy="1080135"/>
          </a:xfrm>
          <a:prstGeom prst="roundRect">
            <a:avLst>
              <a:gd name="adj" fmla="val 9112"/>
            </a:avLst>
          </a:prstGeom>
          <a:solidFill>
            <a:srgbClr val="FFFFFF"/>
          </a:solidFill>
          <a:ln w="6350">
            <a:solidFill>
              <a:srgbClr val="E3E6E4"/>
            </a:solidFill>
            <a:prstDash val="solid"/>
          </a:ln>
        </p:spPr>
      </p:sp>
      <p:sp>
        <p:nvSpPr>
          <p:cNvPr id="9" name="Text 6"/>
          <p:cNvSpPr/>
          <p:nvPr/>
        </p:nvSpPr>
        <p:spPr>
          <a:xfrm>
            <a:off x="7654528" y="2859407"/>
            <a:ext cx="359572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C5CAB"/>
                </a:solidFill>
                <a:latin typeface="DM Sans" pitchFamily="34" charset="0"/>
                <a:ea typeface="DM Sans" pitchFamily="34" charset="-122"/>
                <a:cs typeface="DM Sans" pitchFamily="34" charset="-120"/>
              </a:rPr>
              <a:t>₹1,126</a:t>
            </a:r>
            <a:endParaRPr lang="en-US" sz="3200" dirty="0"/>
          </a:p>
        </p:txBody>
      </p:sp>
      <p:sp>
        <p:nvSpPr>
          <p:cNvPr id="10" name="Text 7"/>
          <p:cNvSpPr/>
          <p:nvPr/>
        </p:nvSpPr>
        <p:spPr>
          <a:xfrm>
            <a:off x="7654528" y="3357246"/>
            <a:ext cx="3595722"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DM Sans" pitchFamily="34" charset="0"/>
                <a:ea typeface="DM Sans" pitchFamily="34" charset="-122"/>
                <a:cs typeface="DM Sans" pitchFamily="34" charset="-120"/>
              </a:rPr>
              <a:t>typical miss, about 7% of the average price</a:t>
            </a:r>
            <a:endParaRPr lang="en-US" sz="1300" dirty="0"/>
          </a:p>
        </p:txBody>
      </p:sp>
      <p:sp>
        <p:nvSpPr>
          <p:cNvPr id="11" name="Shape 8"/>
          <p:cNvSpPr/>
          <p:nvPr/>
        </p:nvSpPr>
        <p:spPr>
          <a:xfrm>
            <a:off x="7424024" y="3893186"/>
            <a:ext cx="3952002" cy="1303020"/>
          </a:xfrm>
          <a:prstGeom prst="roundRect">
            <a:avLst>
              <a:gd name="adj" fmla="val 7554"/>
            </a:avLst>
          </a:prstGeom>
          <a:solidFill>
            <a:srgbClr val="FFFFFF"/>
          </a:solidFill>
          <a:ln w="6350">
            <a:solidFill>
              <a:srgbClr val="E3E6E4"/>
            </a:solidFill>
            <a:prstDash val="solid"/>
          </a:ln>
        </p:spPr>
      </p:sp>
      <p:sp>
        <p:nvSpPr>
          <p:cNvPr id="12" name="Text 9"/>
          <p:cNvSpPr/>
          <p:nvPr/>
        </p:nvSpPr>
        <p:spPr>
          <a:xfrm>
            <a:off x="7654528" y="4072889"/>
            <a:ext cx="359572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C5CAB"/>
                </a:solidFill>
                <a:latin typeface="DM Sans" pitchFamily="34" charset="0"/>
                <a:ea typeface="DM Sans" pitchFamily="34" charset="-122"/>
                <a:cs typeface="DM Sans" pitchFamily="34" charset="-120"/>
              </a:rPr>
              <a:t>−41%</a:t>
            </a:r>
            <a:endParaRPr lang="en-US" sz="3200" dirty="0"/>
          </a:p>
        </p:txBody>
      </p:sp>
      <p:sp>
        <p:nvSpPr>
          <p:cNvPr id="13" name="Text 10"/>
          <p:cNvSpPr/>
          <p:nvPr/>
        </p:nvSpPr>
        <p:spPr>
          <a:xfrm>
            <a:off x="7654528" y="4570732"/>
            <a:ext cx="3595722"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DM Sans" pitchFamily="34" charset="0"/>
                <a:ea typeface="DM Sans" pitchFamily="34" charset="-122"/>
                <a:cs typeface="DM Sans" pitchFamily="34" charset="-120"/>
              </a:rPr>
              <a:t>error vs the Linear baseline (MAE 1,126 vs 1,917)</a:t>
            </a:r>
            <a:endParaRPr lang="en-US" sz="1300" dirty="0"/>
          </a:p>
        </p:txBody>
      </p:sp>
      <p:sp>
        <p:nvSpPr>
          <p:cNvPr id="14" name="Text 11"/>
          <p:cNvSpPr/>
          <p:nvPr/>
        </p:nvSpPr>
        <p:spPr>
          <a:xfrm>
            <a:off x="812800" y="6238239"/>
            <a:ext cx="45025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Test set: 109 phones the models never saw in training</a:t>
            </a:r>
            <a:endParaRPr lang="en-US" sz="1200" dirty="0"/>
          </a:p>
        </p:txBody>
      </p:sp>
      <p:sp>
        <p:nvSpPr>
          <p:cNvPr id="15" name="Text 12"/>
          <p:cNvSpPr/>
          <p:nvPr/>
        </p:nvSpPr>
        <p:spPr>
          <a:xfrm>
            <a:off x="11297762" y="6238239"/>
            <a:ext cx="1322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Cross-validation confirms XGBoost</a:t>
            </a:r>
            <a:endParaRPr lang="en-US" sz="3200" dirty="0"/>
          </a:p>
        </p:txBody>
      </p:sp>
      <p:sp>
        <p:nvSpPr>
          <p:cNvPr id="3" name="Shape 1"/>
          <p:cNvSpPr/>
          <p:nvPr/>
        </p:nvSpPr>
        <p:spPr>
          <a:xfrm>
            <a:off x="815975" y="1466214"/>
            <a:ext cx="10560050" cy="3211830"/>
          </a:xfrm>
          <a:prstGeom prst="roundRect">
            <a:avLst>
              <a:gd name="adj" fmla="val 3064"/>
            </a:avLst>
          </a:prstGeom>
          <a:solidFill>
            <a:srgbClr val="FFFFFF"/>
          </a:solidFill>
          <a:ln w="6350">
            <a:solidFill>
              <a:srgbClr val="E3E6E4"/>
            </a:solidFill>
            <a:prstDash val="solid"/>
          </a:ln>
        </p:spPr>
      </p:sp>
      <p:sp>
        <p:nvSpPr>
          <p:cNvPr id="4" name="Text 2"/>
          <p:cNvSpPr/>
          <p:nvPr/>
        </p:nvSpPr>
        <p:spPr>
          <a:xfrm>
            <a:off x="1046480" y="1696721"/>
            <a:ext cx="1040201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Average error (MAE, rupees) across 5 folds, lower is better</a:t>
            </a:r>
            <a:endParaRPr lang="en-US" sz="1600" dirty="0"/>
          </a:p>
        </p:txBody>
      </p:sp>
      <p:sp>
        <p:nvSpPr>
          <p:cNvPr id="5" name="Text 3"/>
          <p:cNvSpPr/>
          <p:nvPr/>
        </p:nvSpPr>
        <p:spPr>
          <a:xfrm>
            <a:off x="1046480" y="2067561"/>
            <a:ext cx="17018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DM Sans" pitchFamily="34" charset="0"/>
                <a:ea typeface="DM Sans" pitchFamily="34" charset="-122"/>
                <a:cs typeface="DM Sans" pitchFamily="34" charset="-120"/>
              </a:rPr>
              <a:t>XGBoost</a:t>
            </a:r>
            <a:endParaRPr lang="en-US" sz="1300" dirty="0"/>
          </a:p>
        </p:txBody>
      </p:sp>
      <p:sp>
        <p:nvSpPr>
          <p:cNvPr id="6" name="Shape 4"/>
          <p:cNvSpPr/>
          <p:nvPr/>
        </p:nvSpPr>
        <p:spPr>
          <a:xfrm>
            <a:off x="2824480" y="2068832"/>
            <a:ext cx="1517650" cy="228600"/>
          </a:xfrm>
          <a:custGeom>
            <a:avLst/>
            <a:gdLst/>
            <a:ahLst/>
            <a:cxnLst/>
            <a:rect l="l" t="t" r="r" b="b"/>
            <a:pathLst>
              <a:path w="1517650" h="228600">
                <a:moveTo>
                  <a:pt x="0" y="0"/>
                </a:moveTo>
                <a:lnTo>
                  <a:pt x="1492250" y="0"/>
                </a:lnTo>
                <a:arcTo wR="25400" hR="25400" stAng="16200000" swAng="5400000"/>
                <a:lnTo>
                  <a:pt x="1517650" y="203200"/>
                </a:lnTo>
                <a:arcTo wR="25400" hR="25400" stAng="0" swAng="5400000"/>
                <a:lnTo>
                  <a:pt x="0" y="228600"/>
                </a:lnTo>
                <a:lnTo>
                  <a:pt x="0" y="0"/>
                </a:lnTo>
                <a:close/>
              </a:path>
            </a:pathLst>
          </a:custGeom>
          <a:solidFill>
            <a:srgbClr val="EB6834"/>
          </a:solidFill>
          <a:ln/>
        </p:spPr>
      </p:sp>
      <p:sp>
        <p:nvSpPr>
          <p:cNvPr id="7" name="Text 5"/>
          <p:cNvSpPr/>
          <p:nvPr/>
        </p:nvSpPr>
        <p:spPr>
          <a:xfrm>
            <a:off x="4469130" y="2067561"/>
            <a:ext cx="84724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DM Sans" pitchFamily="34" charset="0"/>
                <a:ea typeface="DM Sans" pitchFamily="34" charset="-122"/>
                <a:cs typeface="DM Sans" pitchFamily="34" charset="-120"/>
              </a:rPr>
              <a:t>958 ± 90</a:t>
            </a:r>
            <a:endParaRPr lang="en-US" sz="1300" dirty="0"/>
          </a:p>
        </p:txBody>
      </p:sp>
      <p:sp>
        <p:nvSpPr>
          <p:cNvPr id="8" name="Text 6"/>
          <p:cNvSpPr/>
          <p:nvPr/>
        </p:nvSpPr>
        <p:spPr>
          <a:xfrm>
            <a:off x="1046480" y="2425700"/>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Extra Trees</a:t>
            </a:r>
            <a:endParaRPr lang="en-US" sz="1300" dirty="0"/>
          </a:p>
        </p:txBody>
      </p:sp>
      <p:sp>
        <p:nvSpPr>
          <p:cNvPr id="9" name="Shape 7"/>
          <p:cNvSpPr/>
          <p:nvPr/>
        </p:nvSpPr>
        <p:spPr>
          <a:xfrm>
            <a:off x="2824480" y="2426971"/>
            <a:ext cx="1866900" cy="228600"/>
          </a:xfrm>
          <a:custGeom>
            <a:avLst/>
            <a:gdLst/>
            <a:ahLst/>
            <a:cxnLst/>
            <a:rect l="l" t="t" r="r" b="b"/>
            <a:pathLst>
              <a:path w="1866900" h="228600">
                <a:moveTo>
                  <a:pt x="0" y="0"/>
                </a:moveTo>
                <a:lnTo>
                  <a:pt x="1841500" y="0"/>
                </a:lnTo>
                <a:arcTo wR="25400" hR="25400" stAng="16200000" swAng="5400000"/>
                <a:lnTo>
                  <a:pt x="1866900" y="203200"/>
                </a:lnTo>
                <a:arcTo wR="25400" hR="25400" stAng="0" swAng="5400000"/>
                <a:lnTo>
                  <a:pt x="0" y="228600"/>
                </a:lnTo>
                <a:lnTo>
                  <a:pt x="0" y="0"/>
                </a:lnTo>
                <a:close/>
              </a:path>
            </a:pathLst>
          </a:custGeom>
          <a:solidFill>
            <a:srgbClr val="2A78D6"/>
          </a:solidFill>
          <a:ln/>
        </p:spPr>
      </p:sp>
      <p:sp>
        <p:nvSpPr>
          <p:cNvPr id="10" name="Text 8"/>
          <p:cNvSpPr/>
          <p:nvPr/>
        </p:nvSpPr>
        <p:spPr>
          <a:xfrm>
            <a:off x="4818380" y="2425700"/>
            <a:ext cx="93478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1,177 ± 225</a:t>
            </a:r>
            <a:endParaRPr lang="en-US" sz="1300" dirty="0"/>
          </a:p>
        </p:txBody>
      </p:sp>
      <p:sp>
        <p:nvSpPr>
          <p:cNvPr id="11" name="Text 9"/>
          <p:cNvSpPr/>
          <p:nvPr/>
        </p:nvSpPr>
        <p:spPr>
          <a:xfrm>
            <a:off x="1046480" y="2783839"/>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Random Forest</a:t>
            </a:r>
            <a:endParaRPr lang="en-US" sz="1300" dirty="0"/>
          </a:p>
        </p:txBody>
      </p:sp>
      <p:sp>
        <p:nvSpPr>
          <p:cNvPr id="12" name="Shape 10"/>
          <p:cNvSpPr/>
          <p:nvPr/>
        </p:nvSpPr>
        <p:spPr>
          <a:xfrm>
            <a:off x="2824480" y="2785111"/>
            <a:ext cx="2343150" cy="228600"/>
          </a:xfrm>
          <a:custGeom>
            <a:avLst/>
            <a:gdLst/>
            <a:ahLst/>
            <a:cxnLst/>
            <a:rect l="l" t="t" r="r" b="b"/>
            <a:pathLst>
              <a:path w="2343150" h="228600">
                <a:moveTo>
                  <a:pt x="0" y="0"/>
                </a:moveTo>
                <a:lnTo>
                  <a:pt x="2317750" y="0"/>
                </a:lnTo>
                <a:arcTo wR="25400" hR="25400" stAng="16200000" swAng="5400000"/>
                <a:lnTo>
                  <a:pt x="2343150" y="203200"/>
                </a:lnTo>
                <a:arcTo wR="25400" hR="25400" stAng="0" swAng="5400000"/>
                <a:lnTo>
                  <a:pt x="0" y="228600"/>
                </a:lnTo>
                <a:lnTo>
                  <a:pt x="0" y="0"/>
                </a:lnTo>
                <a:close/>
              </a:path>
            </a:pathLst>
          </a:custGeom>
          <a:solidFill>
            <a:srgbClr val="2A78D6"/>
          </a:solidFill>
          <a:ln/>
        </p:spPr>
      </p:sp>
      <p:sp>
        <p:nvSpPr>
          <p:cNvPr id="13" name="Text 11"/>
          <p:cNvSpPr/>
          <p:nvPr/>
        </p:nvSpPr>
        <p:spPr>
          <a:xfrm>
            <a:off x="5294630" y="2783839"/>
            <a:ext cx="9577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1,478 ± 144</a:t>
            </a:r>
            <a:endParaRPr lang="en-US" sz="1300" dirty="0"/>
          </a:p>
        </p:txBody>
      </p:sp>
      <p:sp>
        <p:nvSpPr>
          <p:cNvPr id="14" name="Text 12"/>
          <p:cNvSpPr/>
          <p:nvPr/>
        </p:nvSpPr>
        <p:spPr>
          <a:xfrm>
            <a:off x="1046480" y="3141982"/>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Decision Tree</a:t>
            </a:r>
            <a:endParaRPr lang="en-US" sz="1300" dirty="0"/>
          </a:p>
        </p:txBody>
      </p:sp>
      <p:sp>
        <p:nvSpPr>
          <p:cNvPr id="15" name="Shape 13"/>
          <p:cNvSpPr/>
          <p:nvPr/>
        </p:nvSpPr>
        <p:spPr>
          <a:xfrm>
            <a:off x="2824480" y="3143250"/>
            <a:ext cx="2425700" cy="228600"/>
          </a:xfrm>
          <a:custGeom>
            <a:avLst/>
            <a:gdLst/>
            <a:ahLst/>
            <a:cxnLst/>
            <a:rect l="l" t="t" r="r" b="b"/>
            <a:pathLst>
              <a:path w="2425700" h="228600">
                <a:moveTo>
                  <a:pt x="0" y="0"/>
                </a:moveTo>
                <a:lnTo>
                  <a:pt x="2400300" y="0"/>
                </a:lnTo>
                <a:arcTo wR="25400" hR="25400" stAng="16200000" swAng="5400000"/>
                <a:lnTo>
                  <a:pt x="2425700" y="203200"/>
                </a:lnTo>
                <a:arcTo wR="25400" hR="25400" stAng="0" swAng="5400000"/>
                <a:lnTo>
                  <a:pt x="0" y="228600"/>
                </a:lnTo>
                <a:lnTo>
                  <a:pt x="0" y="0"/>
                </a:lnTo>
                <a:close/>
              </a:path>
            </a:pathLst>
          </a:custGeom>
          <a:solidFill>
            <a:srgbClr val="2A78D6"/>
          </a:solidFill>
          <a:ln/>
        </p:spPr>
      </p:sp>
      <p:sp>
        <p:nvSpPr>
          <p:cNvPr id="16" name="Text 14"/>
          <p:cNvSpPr/>
          <p:nvPr/>
        </p:nvSpPr>
        <p:spPr>
          <a:xfrm>
            <a:off x="5377180" y="3141982"/>
            <a:ext cx="96612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1,529 ± 351</a:t>
            </a:r>
            <a:endParaRPr lang="en-US" sz="1300" dirty="0"/>
          </a:p>
        </p:txBody>
      </p:sp>
      <p:sp>
        <p:nvSpPr>
          <p:cNvPr id="17" name="Text 15"/>
          <p:cNvSpPr/>
          <p:nvPr/>
        </p:nvSpPr>
        <p:spPr>
          <a:xfrm>
            <a:off x="1046480" y="3500121"/>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Gradient Boosting</a:t>
            </a:r>
            <a:endParaRPr lang="en-US" sz="1300" dirty="0"/>
          </a:p>
        </p:txBody>
      </p:sp>
      <p:sp>
        <p:nvSpPr>
          <p:cNvPr id="18" name="Shape 16"/>
          <p:cNvSpPr/>
          <p:nvPr/>
        </p:nvSpPr>
        <p:spPr>
          <a:xfrm>
            <a:off x="2824480" y="3501389"/>
            <a:ext cx="2736850" cy="228600"/>
          </a:xfrm>
          <a:custGeom>
            <a:avLst/>
            <a:gdLst/>
            <a:ahLst/>
            <a:cxnLst/>
            <a:rect l="l" t="t" r="r" b="b"/>
            <a:pathLst>
              <a:path w="2736850" h="228600">
                <a:moveTo>
                  <a:pt x="0" y="0"/>
                </a:moveTo>
                <a:lnTo>
                  <a:pt x="2711450" y="0"/>
                </a:lnTo>
                <a:arcTo wR="25400" hR="25400" stAng="16200000" swAng="5400000"/>
                <a:lnTo>
                  <a:pt x="2736850" y="203200"/>
                </a:lnTo>
                <a:arcTo wR="25400" hR="25400" stAng="0" swAng="5400000"/>
                <a:lnTo>
                  <a:pt x="0" y="228600"/>
                </a:lnTo>
                <a:lnTo>
                  <a:pt x="0" y="0"/>
                </a:lnTo>
                <a:close/>
              </a:path>
            </a:pathLst>
          </a:custGeom>
          <a:solidFill>
            <a:srgbClr val="2A78D6"/>
          </a:solidFill>
          <a:ln/>
        </p:spPr>
      </p:sp>
      <p:sp>
        <p:nvSpPr>
          <p:cNvPr id="19" name="Text 17"/>
          <p:cNvSpPr/>
          <p:nvPr/>
        </p:nvSpPr>
        <p:spPr>
          <a:xfrm>
            <a:off x="5688330" y="3500121"/>
            <a:ext cx="89201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1,724 ± 116</a:t>
            </a:r>
            <a:endParaRPr lang="en-US" sz="1300" dirty="0"/>
          </a:p>
        </p:txBody>
      </p:sp>
      <p:sp>
        <p:nvSpPr>
          <p:cNvPr id="20" name="Text 18"/>
          <p:cNvSpPr/>
          <p:nvPr/>
        </p:nvSpPr>
        <p:spPr>
          <a:xfrm>
            <a:off x="1046480" y="3858261"/>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Linear (baseline)</a:t>
            </a:r>
            <a:endParaRPr lang="en-US" sz="1300" dirty="0"/>
          </a:p>
        </p:txBody>
      </p:sp>
      <p:sp>
        <p:nvSpPr>
          <p:cNvPr id="21" name="Shape 19"/>
          <p:cNvSpPr/>
          <p:nvPr/>
        </p:nvSpPr>
        <p:spPr>
          <a:xfrm>
            <a:off x="2824480" y="3859532"/>
            <a:ext cx="3448050" cy="228600"/>
          </a:xfrm>
          <a:custGeom>
            <a:avLst/>
            <a:gdLst/>
            <a:ahLst/>
            <a:cxnLst/>
            <a:rect l="l" t="t" r="r" b="b"/>
            <a:pathLst>
              <a:path w="3448050" h="228600">
                <a:moveTo>
                  <a:pt x="0" y="0"/>
                </a:moveTo>
                <a:lnTo>
                  <a:pt x="3422650" y="0"/>
                </a:lnTo>
                <a:arcTo wR="25400" hR="25400" stAng="16200000" swAng="5400000"/>
                <a:lnTo>
                  <a:pt x="3448050" y="203200"/>
                </a:lnTo>
                <a:arcTo wR="25400" hR="25400" stAng="0" swAng="5400000"/>
                <a:lnTo>
                  <a:pt x="0" y="228600"/>
                </a:lnTo>
                <a:lnTo>
                  <a:pt x="0" y="0"/>
                </a:lnTo>
                <a:close/>
              </a:path>
            </a:pathLst>
          </a:custGeom>
          <a:solidFill>
            <a:srgbClr val="2A78D6"/>
          </a:solidFill>
          <a:ln/>
        </p:spPr>
      </p:sp>
      <p:sp>
        <p:nvSpPr>
          <p:cNvPr id="22" name="Text 20"/>
          <p:cNvSpPr/>
          <p:nvPr/>
        </p:nvSpPr>
        <p:spPr>
          <a:xfrm>
            <a:off x="6399530" y="3858261"/>
            <a:ext cx="93354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2,171 ± 376</a:t>
            </a:r>
            <a:endParaRPr lang="en-US" sz="1300" dirty="0"/>
          </a:p>
        </p:txBody>
      </p:sp>
      <p:sp>
        <p:nvSpPr>
          <p:cNvPr id="23" name="Text 21"/>
          <p:cNvSpPr/>
          <p:nvPr/>
        </p:nvSpPr>
        <p:spPr>
          <a:xfrm>
            <a:off x="1046480" y="4216400"/>
            <a:ext cx="1701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AdaBoost</a:t>
            </a:r>
            <a:endParaRPr lang="en-US" sz="1300" dirty="0"/>
          </a:p>
        </p:txBody>
      </p:sp>
      <p:sp>
        <p:nvSpPr>
          <p:cNvPr id="24" name="Shape 22"/>
          <p:cNvSpPr/>
          <p:nvPr/>
        </p:nvSpPr>
        <p:spPr>
          <a:xfrm>
            <a:off x="2824480" y="4217671"/>
            <a:ext cx="6064250" cy="228600"/>
          </a:xfrm>
          <a:custGeom>
            <a:avLst/>
            <a:gdLst/>
            <a:ahLst/>
            <a:cxnLst/>
            <a:rect l="l" t="t" r="r" b="b"/>
            <a:pathLst>
              <a:path w="6064250" h="228600">
                <a:moveTo>
                  <a:pt x="0" y="0"/>
                </a:moveTo>
                <a:lnTo>
                  <a:pt x="6038850" y="0"/>
                </a:lnTo>
                <a:arcTo wR="25400" hR="25400" stAng="16200000" swAng="5400000"/>
                <a:lnTo>
                  <a:pt x="6064250" y="203200"/>
                </a:lnTo>
                <a:arcTo wR="25400" hR="25400" stAng="0" swAng="5400000"/>
                <a:lnTo>
                  <a:pt x="0" y="228600"/>
                </a:lnTo>
                <a:lnTo>
                  <a:pt x="0" y="0"/>
                </a:lnTo>
                <a:close/>
              </a:path>
            </a:pathLst>
          </a:custGeom>
          <a:solidFill>
            <a:srgbClr val="2A78D6"/>
          </a:solidFill>
          <a:ln/>
        </p:spPr>
      </p:sp>
      <p:sp>
        <p:nvSpPr>
          <p:cNvPr id="25" name="Text 23"/>
          <p:cNvSpPr/>
          <p:nvPr/>
        </p:nvSpPr>
        <p:spPr>
          <a:xfrm>
            <a:off x="9015730" y="4216400"/>
            <a:ext cx="10124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3,821 ± 245</a:t>
            </a:r>
            <a:endParaRPr lang="en-US" sz="1300" dirty="0"/>
          </a:p>
        </p:txBody>
      </p:sp>
      <p:sp>
        <p:nvSpPr>
          <p:cNvPr id="26" name="Text 24"/>
          <p:cNvSpPr/>
          <p:nvPr/>
        </p:nvSpPr>
        <p:spPr>
          <a:xfrm>
            <a:off x="812800" y="488442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8"/>
                </a:solidFill>
                <a:latin typeface="DM Sans" pitchFamily="34" charset="0"/>
                <a:ea typeface="DM Sans" pitchFamily="34" charset="-122"/>
                <a:cs typeface="DM Sans" pitchFamily="34" charset="-120"/>
              </a:rPr>
              <a:t>56% lower error than the baseline</a:t>
            </a:r>
            <a:r>
              <a:rPr lang="en-US" sz="1500" dirty="0">
                <a:solidFill>
                  <a:srgbClr val="4A5568"/>
                </a:solidFill>
                <a:latin typeface="DM Sans" pitchFamily="34" charset="0"/>
                <a:ea typeface="DM Sans" pitchFamily="34" charset="-122"/>
                <a:cs typeface="DM Sans" pitchFamily="34" charset="-120"/>
              </a:rPr>
              <a:t> (958 vs 2,171), and the best on all 5 folds on average. The ± is the spread between folds: a smaller spread means a steadier model. A log-price version did not help (XGBoost 1,178), so we kept plain price.</a:t>
            </a:r>
            <a:endParaRPr lang="en-US" sz="1500" dirty="0"/>
          </a:p>
        </p:txBody>
      </p:sp>
      <p:sp>
        <p:nvSpPr>
          <p:cNvPr id="27" name="Text 25"/>
          <p:cNvSpPr/>
          <p:nvPr/>
        </p:nvSpPr>
        <p:spPr>
          <a:xfrm>
            <a:off x="812800" y="6238242"/>
            <a:ext cx="428710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5-fold cross-validation on the 432 training phones</a:t>
            </a:r>
            <a:endParaRPr lang="en-US" sz="1200" dirty="0"/>
          </a:p>
        </p:txBody>
      </p:sp>
      <p:sp>
        <p:nvSpPr>
          <p:cNvPr id="28" name="Text 26"/>
          <p:cNvSpPr/>
          <p:nvPr/>
        </p:nvSpPr>
        <p:spPr>
          <a:xfrm>
            <a:off x="11286490" y="6238242"/>
            <a:ext cx="1435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The model mostly reads the chipset</a:t>
            </a:r>
            <a:endParaRPr lang="en-US" sz="3200" dirty="0"/>
          </a:p>
        </p:txBody>
      </p:sp>
      <p:sp>
        <p:nvSpPr>
          <p:cNvPr id="3" name="Shape 1"/>
          <p:cNvSpPr/>
          <p:nvPr/>
        </p:nvSpPr>
        <p:spPr>
          <a:xfrm>
            <a:off x="815975" y="1466217"/>
            <a:ext cx="6398498" cy="2650490"/>
          </a:xfrm>
          <a:prstGeom prst="roundRect">
            <a:avLst>
              <a:gd name="adj" fmla="val 3713"/>
            </a:avLst>
          </a:prstGeom>
          <a:solidFill>
            <a:srgbClr val="FFFFFF"/>
          </a:solidFill>
          <a:ln w="6350">
            <a:solidFill>
              <a:srgbClr val="E3E6E4"/>
            </a:solidFill>
            <a:prstDash val="solid"/>
          </a:ln>
        </p:spPr>
      </p:sp>
      <p:sp>
        <p:nvSpPr>
          <p:cNvPr id="4" name="Text 2"/>
          <p:cNvSpPr/>
          <p:nvPr/>
        </p:nvSpPr>
        <p:spPr>
          <a:xfrm>
            <a:off x="1046480" y="1696721"/>
            <a:ext cx="61156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Share of the model's reliance, by original feature</a:t>
            </a:r>
            <a:endParaRPr lang="en-US" sz="1600" dirty="0"/>
          </a:p>
        </p:txBody>
      </p:sp>
      <p:grpSp>
        <p:nvGrpSpPr>
          <p:cNvPr id="28" name="Tier">
            <a:extLst>
              <a:ext uri="{FF2B5EF4-FFF2-40B4-BE49-F238E27FC236}">
                <a16:creationId xmlns:a16="http://schemas.microsoft.com/office/drawing/2014/main" id="{6F542D66-5E1F-0DDA-1177-BA7397A8663D}"/>
              </a:ext>
            </a:extLst>
          </p:cNvPr>
          <p:cNvGrpSpPr/>
          <p:nvPr/>
        </p:nvGrpSpPr>
        <p:grpSpPr>
          <a:xfrm>
            <a:off x="1046480" y="2092964"/>
            <a:ext cx="5988288" cy="523240"/>
            <a:chOff x="1046480" y="2092964"/>
            <a:chExt cx="5988288" cy="523240"/>
          </a:xfrm>
        </p:grpSpPr>
        <p:sp>
          <p:nvSpPr>
            <p:cNvPr id="5" name="Text 3"/>
            <p:cNvSpPr/>
            <p:nvPr/>
          </p:nvSpPr>
          <p:spPr>
            <a:xfrm>
              <a:off x="1046480" y="2217421"/>
              <a:ext cx="18313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DM Sans" pitchFamily="34" charset="0"/>
                  <a:ea typeface="DM Sans" pitchFamily="34" charset="-122"/>
                  <a:cs typeface="DM Sans" pitchFamily="34" charset="-120"/>
                </a:rPr>
                <a:t>Tier</a:t>
              </a:r>
              <a:endParaRPr lang="en-US" sz="1400" dirty="0"/>
            </a:p>
          </p:txBody>
        </p:sp>
        <p:sp>
          <p:nvSpPr>
            <p:cNvPr id="6" name="Shape 4"/>
            <p:cNvSpPr/>
            <p:nvPr/>
          </p:nvSpPr>
          <p:spPr>
            <a:xfrm>
              <a:off x="2951480" y="2202179"/>
              <a:ext cx="3460750" cy="279400"/>
            </a:xfrm>
            <a:custGeom>
              <a:avLst/>
              <a:gdLst/>
              <a:ahLst/>
              <a:cxnLst/>
              <a:rect l="l" t="t" r="r" b="b"/>
              <a:pathLst>
                <a:path w="3460750" h="279400">
                  <a:moveTo>
                    <a:pt x="0" y="0"/>
                  </a:moveTo>
                  <a:lnTo>
                    <a:pt x="3435350" y="0"/>
                  </a:lnTo>
                  <a:arcTo wR="25400" hR="25400" stAng="16200000" swAng="5400000"/>
                  <a:lnTo>
                    <a:pt x="3460750" y="254000"/>
                  </a:lnTo>
                  <a:arcTo wR="25400" hR="25400" stAng="0" swAng="5400000"/>
                  <a:lnTo>
                    <a:pt x="0" y="279400"/>
                  </a:lnTo>
                  <a:lnTo>
                    <a:pt x="0" y="0"/>
                  </a:lnTo>
                  <a:close/>
                </a:path>
              </a:pathLst>
            </a:custGeom>
            <a:solidFill>
              <a:srgbClr val="EB6834"/>
            </a:solidFill>
            <a:ln/>
          </p:spPr>
        </p:sp>
        <p:sp>
          <p:nvSpPr>
            <p:cNvPr id="7" name="Text 5"/>
            <p:cNvSpPr/>
            <p:nvPr/>
          </p:nvSpPr>
          <p:spPr>
            <a:xfrm>
              <a:off x="6539230" y="2092964"/>
              <a:ext cx="49553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DM Sans" pitchFamily="34" charset="0"/>
                  <a:ea typeface="DM Sans" pitchFamily="34" charset="-122"/>
                  <a:cs typeface="DM Sans" pitchFamily="34" charset="-120"/>
                </a:rPr>
                <a:t>54.5%</a:t>
              </a:r>
              <a:endParaRPr lang="en-US" sz="1400" dirty="0"/>
            </a:p>
          </p:txBody>
        </p:sp>
      </p:grpSp>
      <p:grpSp>
        <p:nvGrpSpPr>
          <p:cNvPr id="29" name="Processor">
            <a:extLst>
              <a:ext uri="{FF2B5EF4-FFF2-40B4-BE49-F238E27FC236}">
                <a16:creationId xmlns:a16="http://schemas.microsoft.com/office/drawing/2014/main" id="{DC21D7CD-A99A-3479-5D9F-D083030D4210}"/>
              </a:ext>
            </a:extLst>
          </p:cNvPr>
          <p:cNvGrpSpPr/>
          <p:nvPr/>
        </p:nvGrpSpPr>
        <p:grpSpPr>
          <a:xfrm>
            <a:off x="1046480" y="2743200"/>
            <a:ext cx="4087082" cy="289562"/>
            <a:chOff x="1046480" y="2743200"/>
            <a:chExt cx="4087082" cy="289562"/>
          </a:xfrm>
        </p:grpSpPr>
        <p:sp>
          <p:nvSpPr>
            <p:cNvPr id="8" name="Text 6"/>
            <p:cNvSpPr/>
            <p:nvPr/>
          </p:nvSpPr>
          <p:spPr>
            <a:xfrm>
              <a:off x="1046480" y="2758442"/>
              <a:ext cx="18313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Processor</a:t>
              </a:r>
              <a:endParaRPr lang="en-US" sz="1400" dirty="0"/>
            </a:p>
          </p:txBody>
        </p:sp>
        <p:sp>
          <p:nvSpPr>
            <p:cNvPr id="9" name="Shape 7"/>
            <p:cNvSpPr/>
            <p:nvPr/>
          </p:nvSpPr>
          <p:spPr>
            <a:xfrm>
              <a:off x="2951480" y="2743200"/>
              <a:ext cx="1473200" cy="279400"/>
            </a:xfrm>
            <a:custGeom>
              <a:avLst/>
              <a:gdLst/>
              <a:ahLst/>
              <a:cxnLst/>
              <a:rect l="l" t="t" r="r" b="b"/>
              <a:pathLst>
                <a:path w="1473200" h="279400">
                  <a:moveTo>
                    <a:pt x="0" y="0"/>
                  </a:moveTo>
                  <a:lnTo>
                    <a:pt x="1447800" y="0"/>
                  </a:lnTo>
                  <a:arcTo wR="25400" hR="25400" stAng="16200000" swAng="5400000"/>
                  <a:lnTo>
                    <a:pt x="1473200" y="254000"/>
                  </a:lnTo>
                  <a:arcTo wR="25400" hR="25400" stAng="0" swAng="5400000"/>
                  <a:lnTo>
                    <a:pt x="0" y="279400"/>
                  </a:lnTo>
                  <a:lnTo>
                    <a:pt x="0" y="0"/>
                  </a:lnTo>
                  <a:close/>
                </a:path>
              </a:pathLst>
            </a:custGeom>
            <a:solidFill>
              <a:srgbClr val="2A78D6"/>
            </a:solidFill>
            <a:ln/>
          </p:spPr>
        </p:sp>
        <p:sp>
          <p:nvSpPr>
            <p:cNvPr id="10" name="Text 8"/>
            <p:cNvSpPr/>
            <p:nvPr/>
          </p:nvSpPr>
          <p:spPr>
            <a:xfrm>
              <a:off x="4551680" y="2758442"/>
              <a:ext cx="58188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23.2%</a:t>
              </a:r>
              <a:endParaRPr lang="en-US" sz="1400" dirty="0"/>
            </a:p>
          </p:txBody>
        </p:sp>
      </p:grpSp>
      <p:grpSp>
        <p:nvGrpSpPr>
          <p:cNvPr id="30" name="Manufacturer">
            <a:extLst>
              <a:ext uri="{FF2B5EF4-FFF2-40B4-BE49-F238E27FC236}">
                <a16:creationId xmlns:a16="http://schemas.microsoft.com/office/drawing/2014/main" id="{2F5A0B42-619C-B0C4-BF99-69395897EA5A}"/>
              </a:ext>
            </a:extLst>
          </p:cNvPr>
          <p:cNvGrpSpPr/>
          <p:nvPr/>
        </p:nvGrpSpPr>
        <p:grpSpPr>
          <a:xfrm>
            <a:off x="1046480" y="3175000"/>
            <a:ext cx="3585813" cy="289562"/>
            <a:chOff x="1046480" y="3175000"/>
            <a:chExt cx="3585813" cy="289562"/>
          </a:xfrm>
        </p:grpSpPr>
        <p:sp>
          <p:nvSpPr>
            <p:cNvPr id="11" name="Text 9"/>
            <p:cNvSpPr/>
            <p:nvPr/>
          </p:nvSpPr>
          <p:spPr>
            <a:xfrm>
              <a:off x="1046480" y="3190242"/>
              <a:ext cx="18313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Manufacturer</a:t>
              </a:r>
              <a:endParaRPr lang="en-US" sz="1400" dirty="0"/>
            </a:p>
          </p:txBody>
        </p:sp>
        <p:sp>
          <p:nvSpPr>
            <p:cNvPr id="12" name="Shape 10"/>
            <p:cNvSpPr/>
            <p:nvPr/>
          </p:nvSpPr>
          <p:spPr>
            <a:xfrm>
              <a:off x="2951480" y="3175000"/>
              <a:ext cx="1028700" cy="279400"/>
            </a:xfrm>
            <a:custGeom>
              <a:avLst/>
              <a:gdLst/>
              <a:ahLst/>
              <a:cxnLst/>
              <a:rect l="l" t="t" r="r" b="b"/>
              <a:pathLst>
                <a:path w="1028700" h="279400">
                  <a:moveTo>
                    <a:pt x="0" y="0"/>
                  </a:moveTo>
                  <a:lnTo>
                    <a:pt x="1003300" y="0"/>
                  </a:lnTo>
                  <a:arcTo wR="25400" hR="25400" stAng="16200000" swAng="5400000"/>
                  <a:lnTo>
                    <a:pt x="1028700" y="254000"/>
                  </a:lnTo>
                  <a:arcTo wR="25400" hR="25400" stAng="0" swAng="5400000"/>
                  <a:lnTo>
                    <a:pt x="0" y="279400"/>
                  </a:lnTo>
                  <a:lnTo>
                    <a:pt x="0" y="0"/>
                  </a:lnTo>
                  <a:close/>
                </a:path>
              </a:pathLst>
            </a:custGeom>
            <a:solidFill>
              <a:srgbClr val="2A78D6"/>
            </a:solidFill>
            <a:ln/>
          </p:spPr>
        </p:sp>
        <p:sp>
          <p:nvSpPr>
            <p:cNvPr id="13" name="Text 11"/>
            <p:cNvSpPr/>
            <p:nvPr/>
          </p:nvSpPr>
          <p:spPr>
            <a:xfrm>
              <a:off x="4107180" y="3190242"/>
              <a:ext cx="5251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16.2%</a:t>
              </a:r>
              <a:endParaRPr lang="en-US" sz="1400" dirty="0"/>
            </a:p>
          </p:txBody>
        </p:sp>
      </p:grpSp>
      <p:grpSp>
        <p:nvGrpSpPr>
          <p:cNvPr id="31" name="Others">
            <a:extLst>
              <a:ext uri="{FF2B5EF4-FFF2-40B4-BE49-F238E27FC236}">
                <a16:creationId xmlns:a16="http://schemas.microsoft.com/office/drawing/2014/main" id="{BAECB379-2A10-D1BC-8F42-22672E7ABC75}"/>
              </a:ext>
            </a:extLst>
          </p:cNvPr>
          <p:cNvGrpSpPr/>
          <p:nvPr/>
        </p:nvGrpSpPr>
        <p:grpSpPr>
          <a:xfrm>
            <a:off x="1046480" y="3606800"/>
            <a:ext cx="3356229" cy="289562"/>
            <a:chOff x="1046480" y="3606800"/>
            <a:chExt cx="3356229" cy="289562"/>
          </a:xfrm>
        </p:grpSpPr>
        <p:sp>
          <p:nvSpPr>
            <p:cNvPr id="14" name="Text 12"/>
            <p:cNvSpPr/>
            <p:nvPr/>
          </p:nvSpPr>
          <p:spPr>
            <a:xfrm>
              <a:off x="1046480" y="3622042"/>
              <a:ext cx="18313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All 7 other features</a:t>
              </a:r>
              <a:endParaRPr lang="en-US" sz="1400" dirty="0"/>
            </a:p>
          </p:txBody>
        </p:sp>
        <p:sp>
          <p:nvSpPr>
            <p:cNvPr id="15" name="Shape 13"/>
            <p:cNvSpPr/>
            <p:nvPr/>
          </p:nvSpPr>
          <p:spPr>
            <a:xfrm>
              <a:off x="2951480" y="3606800"/>
              <a:ext cx="387350" cy="279400"/>
            </a:xfrm>
            <a:custGeom>
              <a:avLst/>
              <a:gdLst/>
              <a:ahLst/>
              <a:cxnLst/>
              <a:rect l="l" t="t" r="r" b="b"/>
              <a:pathLst>
                <a:path w="387350" h="279400">
                  <a:moveTo>
                    <a:pt x="0" y="0"/>
                  </a:moveTo>
                  <a:lnTo>
                    <a:pt x="361950" y="0"/>
                  </a:lnTo>
                  <a:arcTo wR="25400" hR="25400" stAng="16200000" swAng="5400000"/>
                  <a:lnTo>
                    <a:pt x="387350" y="254000"/>
                  </a:lnTo>
                  <a:arcTo wR="25400" hR="25400" stAng="0" swAng="5400000"/>
                  <a:lnTo>
                    <a:pt x="0" y="279400"/>
                  </a:lnTo>
                  <a:lnTo>
                    <a:pt x="0" y="0"/>
                  </a:lnTo>
                  <a:close/>
                </a:path>
              </a:pathLst>
            </a:custGeom>
            <a:solidFill>
              <a:srgbClr val="2A78D6"/>
            </a:solidFill>
            <a:ln/>
          </p:spPr>
        </p:sp>
        <p:sp>
          <p:nvSpPr>
            <p:cNvPr id="16" name="Text 14"/>
            <p:cNvSpPr/>
            <p:nvPr/>
          </p:nvSpPr>
          <p:spPr>
            <a:xfrm>
              <a:off x="3465830" y="3622042"/>
              <a:ext cx="93687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about 6%</a:t>
              </a:r>
              <a:endParaRPr lang="en-US" sz="1400" dirty="0"/>
            </a:p>
          </p:txBody>
        </p:sp>
      </p:grpSp>
      <p:grpSp>
        <p:nvGrpSpPr>
          <p:cNvPr id="36" name="Group 35">
            <a:extLst>
              <a:ext uri="{FF2B5EF4-FFF2-40B4-BE49-F238E27FC236}">
                <a16:creationId xmlns:a16="http://schemas.microsoft.com/office/drawing/2014/main" id="{2DCA4114-EBED-3F62-F39C-680E69B6A39F}"/>
              </a:ext>
            </a:extLst>
          </p:cNvPr>
          <p:cNvGrpSpPr/>
          <p:nvPr/>
        </p:nvGrpSpPr>
        <p:grpSpPr>
          <a:xfrm>
            <a:off x="7424024" y="1466217"/>
            <a:ext cx="3952002" cy="1303020"/>
            <a:chOff x="7424024" y="1466217"/>
            <a:chExt cx="3952002" cy="1303020"/>
          </a:xfrm>
        </p:grpSpPr>
        <p:sp>
          <p:nvSpPr>
            <p:cNvPr id="17" name="Shape 15"/>
            <p:cNvSpPr/>
            <p:nvPr/>
          </p:nvSpPr>
          <p:spPr>
            <a:xfrm>
              <a:off x="7424024" y="1466217"/>
              <a:ext cx="3952002" cy="1303020"/>
            </a:xfrm>
            <a:prstGeom prst="roundRect">
              <a:avLst>
                <a:gd name="adj" fmla="val 7554"/>
              </a:avLst>
            </a:prstGeom>
            <a:solidFill>
              <a:srgbClr val="FFFFFF"/>
            </a:solidFill>
            <a:ln w="6350">
              <a:solidFill>
                <a:srgbClr val="E3E6E4"/>
              </a:solidFill>
              <a:prstDash val="solid"/>
            </a:ln>
          </p:spPr>
        </p:sp>
        <p:sp>
          <p:nvSpPr>
            <p:cNvPr id="18" name="Text 16"/>
            <p:cNvSpPr/>
            <p:nvPr/>
          </p:nvSpPr>
          <p:spPr>
            <a:xfrm>
              <a:off x="7654528" y="1645921"/>
              <a:ext cx="359572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C5CAB"/>
                  </a:solidFill>
                  <a:latin typeface="DM Sans" pitchFamily="34" charset="0"/>
                  <a:ea typeface="DM Sans" pitchFamily="34" charset="-122"/>
                  <a:cs typeface="DM Sans" pitchFamily="34" charset="-120"/>
                </a:rPr>
                <a:t>94%</a:t>
              </a:r>
              <a:endParaRPr lang="en-US" sz="3200" dirty="0"/>
            </a:p>
          </p:txBody>
        </p:sp>
        <p:sp>
          <p:nvSpPr>
            <p:cNvPr id="19" name="Text 17"/>
            <p:cNvSpPr/>
            <p:nvPr/>
          </p:nvSpPr>
          <p:spPr>
            <a:xfrm>
              <a:off x="7654528" y="2143764"/>
              <a:ext cx="3595722"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DM Sans" pitchFamily="34" charset="0"/>
                  <a:ea typeface="DM Sans" pitchFamily="34" charset="-122"/>
                  <a:cs typeface="DM Sans" pitchFamily="34" charset="-120"/>
                </a:rPr>
                <a:t>of reliance sits on three chipset-related features</a:t>
              </a:r>
              <a:endParaRPr lang="en-US" sz="1300" dirty="0"/>
            </a:p>
          </p:txBody>
        </p:sp>
      </p:grpSp>
      <p:sp>
        <p:nvSpPr>
          <p:cNvPr id="20" name="Text 18"/>
          <p:cNvSpPr/>
          <p:nvPr/>
        </p:nvSpPr>
        <p:spPr>
          <a:xfrm>
            <a:off x="7420849" y="2899414"/>
            <a:ext cx="3958352" cy="1049020"/>
          </a:xfrm>
          <a:prstGeom prst="roundRect">
            <a:avLst>
              <a:gd name="adj" fmla="val 9685"/>
            </a:avLst>
          </a:prstGeom>
          <a:solidFill>
            <a:srgbClr val="EAF1FB"/>
          </a:solidFill>
          <a:ln/>
        </p:spPr>
        <p:txBody>
          <a:bodyPr wrap="square" lIns="198842" tIns="148042" rIns="93808" bIns="122642" rtlCol="0" anchor="t">
            <a:normAutofit/>
          </a:bodyPr>
          <a:lstStyle/>
          <a:p>
            <a:pPr marL="0" indent="0" algn="l">
              <a:lnSpc>
                <a:spcPts val="1820"/>
              </a:lnSpc>
              <a:buNone/>
            </a:pPr>
            <a:r>
              <a:rPr lang="en-US" sz="1300" b="1" dirty="0">
                <a:solidFill>
                  <a:srgbClr val="14213D"/>
                </a:solidFill>
                <a:latin typeface="DM Sans" pitchFamily="34" charset="0"/>
                <a:ea typeface="DM Sans" pitchFamily="34" charset="-122"/>
                <a:cs typeface="DM Sans" pitchFamily="34" charset="-120"/>
              </a:rPr>
              <a:t>Read it carefully:</a:t>
            </a:r>
            <a:r>
              <a:rPr lang="en-US" sz="1300" dirty="0">
                <a:solidFill>
                  <a:srgbClr val="14213D"/>
                </a:solidFill>
                <a:latin typeface="DM Sans" pitchFamily="34" charset="0"/>
                <a:ea typeface="DM Sans" pitchFamily="34" charset="-122"/>
                <a:cs typeface="DM Sans" pitchFamily="34" charset="-120"/>
              </a:rPr>
              <a:t> this is how much the model leans on a feature, not rupees added, and not proof of cause.</a:t>
            </a:r>
            <a:endParaRPr lang="en-US" sz="1300" dirty="0"/>
          </a:p>
        </p:txBody>
      </p:sp>
      <p:sp>
        <p:nvSpPr>
          <p:cNvPr id="21" name="Text 19"/>
          <p:cNvSpPr/>
          <p:nvPr/>
        </p:nvSpPr>
        <p:spPr>
          <a:xfrm>
            <a:off x="812800" y="4323079"/>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Importance was summed across the one-hot columns of each original feature (81 columns back to 10 features). Manufacturer's 16% is mostly the Apple (5 phones) and Google (8 phones) labels.</a:t>
            </a:r>
            <a:endParaRPr lang="en-US" sz="1400" dirty="0"/>
          </a:p>
        </p:txBody>
      </p:sp>
      <p:sp>
        <p:nvSpPr>
          <p:cNvPr id="22" name="Text 20"/>
          <p:cNvSpPr/>
          <p:nvPr/>
        </p:nvSpPr>
        <p:spPr>
          <a:xfrm>
            <a:off x="812800" y="6238242"/>
            <a:ext cx="50590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XGBoost feature_importances_, grouped by original feature</a:t>
            </a:r>
            <a:endParaRPr lang="en-US" sz="1200" dirty="0"/>
          </a:p>
        </p:txBody>
      </p:sp>
      <p:sp>
        <p:nvSpPr>
          <p:cNvPr id="23" name="Text 21"/>
          <p:cNvSpPr/>
          <p:nvPr/>
        </p:nvSpPr>
        <p:spPr>
          <a:xfrm>
            <a:off x="11283474" y="6238242"/>
            <a:ext cx="1465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Specs track price, but the chip comes first</a:t>
            </a:r>
            <a:endParaRPr lang="en-US" sz="3200" dirty="0"/>
          </a:p>
        </p:txBody>
      </p:sp>
      <p:sp>
        <p:nvSpPr>
          <p:cNvPr id="3" name="Shape 1"/>
          <p:cNvSpPr/>
          <p:nvPr/>
        </p:nvSpPr>
        <p:spPr>
          <a:xfrm>
            <a:off x="815975" y="1466217"/>
            <a:ext cx="10560050" cy="3282950"/>
          </a:xfrm>
          <a:prstGeom prst="roundRect">
            <a:avLst>
              <a:gd name="adj" fmla="val 2998"/>
            </a:avLst>
          </a:prstGeom>
          <a:solidFill>
            <a:srgbClr val="FFFFFF"/>
          </a:solidFill>
          <a:ln w="6350">
            <a:solidFill>
              <a:srgbClr val="E3E6E4"/>
            </a:solidFill>
            <a:prstDash val="solid"/>
          </a:ln>
        </p:spPr>
      </p:sp>
      <p:sp>
        <p:nvSpPr>
          <p:cNvPr id="4" name="Text 2"/>
          <p:cNvSpPr/>
          <p:nvPr/>
        </p:nvSpPr>
        <p:spPr>
          <a:xfrm>
            <a:off x="1046480" y="1696721"/>
            <a:ext cx="1040201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Correlation of each spec with price (-1 to +1)</a:t>
            </a:r>
            <a:endParaRPr lang="en-US" sz="1600" dirty="0"/>
          </a:p>
        </p:txBody>
      </p:sp>
      <p:sp>
        <p:nvSpPr>
          <p:cNvPr id="5" name="Text 3"/>
          <p:cNvSpPr/>
          <p:nvPr/>
        </p:nvSpPr>
        <p:spPr>
          <a:xfrm>
            <a:off x="1046480" y="20662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Memory</a:t>
            </a:r>
            <a:endParaRPr lang="en-US" sz="1300" dirty="0"/>
          </a:p>
        </p:txBody>
      </p:sp>
      <p:sp>
        <p:nvSpPr>
          <p:cNvPr id="6" name="Shape 4"/>
          <p:cNvSpPr/>
          <p:nvPr/>
        </p:nvSpPr>
        <p:spPr>
          <a:xfrm>
            <a:off x="3776980" y="2054864"/>
            <a:ext cx="12700" cy="330200"/>
          </a:xfrm>
          <a:prstGeom prst="rect">
            <a:avLst/>
          </a:prstGeom>
          <a:solidFill>
            <a:srgbClr val="8A8F94"/>
          </a:solidFill>
          <a:ln/>
        </p:spPr>
      </p:sp>
      <p:sp>
        <p:nvSpPr>
          <p:cNvPr id="7" name="Shape 5"/>
          <p:cNvSpPr/>
          <p:nvPr/>
        </p:nvSpPr>
        <p:spPr>
          <a:xfrm>
            <a:off x="3776980" y="2054864"/>
            <a:ext cx="3619500" cy="254000"/>
          </a:xfrm>
          <a:custGeom>
            <a:avLst/>
            <a:gdLst/>
            <a:ahLst/>
            <a:cxnLst/>
            <a:rect l="l" t="t" r="r" b="b"/>
            <a:pathLst>
              <a:path w="3619500" h="254000">
                <a:moveTo>
                  <a:pt x="0" y="0"/>
                </a:moveTo>
                <a:lnTo>
                  <a:pt x="3594100" y="0"/>
                </a:lnTo>
                <a:arcTo wR="25400" hR="25400" stAng="16200000" swAng="5400000"/>
                <a:lnTo>
                  <a:pt x="3619500" y="228600"/>
                </a:lnTo>
                <a:arcTo wR="25400" hR="25400" stAng="0" swAng="5400000"/>
                <a:lnTo>
                  <a:pt x="0" y="254000"/>
                </a:lnTo>
                <a:lnTo>
                  <a:pt x="0" y="0"/>
                </a:lnTo>
                <a:close/>
              </a:path>
            </a:pathLst>
          </a:custGeom>
          <a:solidFill>
            <a:srgbClr val="2A78D6"/>
          </a:solidFill>
          <a:ln/>
        </p:spPr>
      </p:sp>
      <p:sp>
        <p:nvSpPr>
          <p:cNvPr id="8" name="Text 6"/>
          <p:cNvSpPr/>
          <p:nvPr/>
        </p:nvSpPr>
        <p:spPr>
          <a:xfrm>
            <a:off x="7485380" y="2080264"/>
            <a:ext cx="49911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+0.57</a:t>
            </a:r>
            <a:endParaRPr lang="en-US" sz="1300" dirty="0"/>
          </a:p>
        </p:txBody>
      </p:sp>
      <p:sp>
        <p:nvSpPr>
          <p:cNvPr id="9" name="Text 7"/>
          <p:cNvSpPr/>
          <p:nvPr/>
        </p:nvSpPr>
        <p:spPr>
          <a:xfrm>
            <a:off x="1046480" y="24345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Front Camera</a:t>
            </a:r>
            <a:endParaRPr lang="en-US" sz="1300" dirty="0"/>
          </a:p>
        </p:txBody>
      </p:sp>
      <p:sp>
        <p:nvSpPr>
          <p:cNvPr id="10" name="Shape 8"/>
          <p:cNvSpPr/>
          <p:nvPr/>
        </p:nvSpPr>
        <p:spPr>
          <a:xfrm>
            <a:off x="3776980" y="2423164"/>
            <a:ext cx="12700" cy="330200"/>
          </a:xfrm>
          <a:prstGeom prst="rect">
            <a:avLst/>
          </a:prstGeom>
          <a:solidFill>
            <a:srgbClr val="8A8F94"/>
          </a:solidFill>
          <a:ln/>
        </p:spPr>
      </p:sp>
      <p:sp>
        <p:nvSpPr>
          <p:cNvPr id="11" name="Shape 9"/>
          <p:cNvSpPr/>
          <p:nvPr/>
        </p:nvSpPr>
        <p:spPr>
          <a:xfrm>
            <a:off x="3776980" y="2423164"/>
            <a:ext cx="3365500" cy="254000"/>
          </a:xfrm>
          <a:custGeom>
            <a:avLst/>
            <a:gdLst/>
            <a:ahLst/>
            <a:cxnLst/>
            <a:rect l="l" t="t" r="r" b="b"/>
            <a:pathLst>
              <a:path w="3365500" h="254000">
                <a:moveTo>
                  <a:pt x="0" y="0"/>
                </a:moveTo>
                <a:lnTo>
                  <a:pt x="3340100" y="0"/>
                </a:lnTo>
                <a:arcTo wR="25400" hR="25400" stAng="16200000" swAng="5400000"/>
                <a:lnTo>
                  <a:pt x="3365500" y="228600"/>
                </a:lnTo>
                <a:arcTo wR="25400" hR="25400" stAng="0" swAng="5400000"/>
                <a:lnTo>
                  <a:pt x="0" y="254000"/>
                </a:lnTo>
                <a:lnTo>
                  <a:pt x="0" y="0"/>
                </a:lnTo>
                <a:close/>
              </a:path>
            </a:pathLst>
          </a:custGeom>
          <a:solidFill>
            <a:srgbClr val="2A78D6"/>
          </a:solidFill>
          <a:ln/>
        </p:spPr>
      </p:sp>
      <p:sp>
        <p:nvSpPr>
          <p:cNvPr id="12" name="Text 10"/>
          <p:cNvSpPr/>
          <p:nvPr/>
        </p:nvSpPr>
        <p:spPr>
          <a:xfrm>
            <a:off x="7231380" y="2448564"/>
            <a:ext cx="51377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+0.53</a:t>
            </a:r>
            <a:endParaRPr lang="en-US" sz="1300" dirty="0"/>
          </a:p>
        </p:txBody>
      </p:sp>
      <p:sp>
        <p:nvSpPr>
          <p:cNvPr id="13" name="Text 11"/>
          <p:cNvSpPr/>
          <p:nvPr/>
        </p:nvSpPr>
        <p:spPr>
          <a:xfrm>
            <a:off x="1046480" y="28028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RAM</a:t>
            </a:r>
            <a:endParaRPr lang="en-US" sz="1300" dirty="0"/>
          </a:p>
        </p:txBody>
      </p:sp>
      <p:sp>
        <p:nvSpPr>
          <p:cNvPr id="14" name="Shape 12"/>
          <p:cNvSpPr/>
          <p:nvPr/>
        </p:nvSpPr>
        <p:spPr>
          <a:xfrm>
            <a:off x="3776980" y="2791464"/>
            <a:ext cx="12700" cy="330200"/>
          </a:xfrm>
          <a:prstGeom prst="rect">
            <a:avLst/>
          </a:prstGeom>
          <a:solidFill>
            <a:srgbClr val="8A8F94"/>
          </a:solidFill>
          <a:ln/>
        </p:spPr>
      </p:sp>
      <p:sp>
        <p:nvSpPr>
          <p:cNvPr id="15" name="Shape 13"/>
          <p:cNvSpPr/>
          <p:nvPr/>
        </p:nvSpPr>
        <p:spPr>
          <a:xfrm>
            <a:off x="3776980" y="2791464"/>
            <a:ext cx="3365500" cy="254000"/>
          </a:xfrm>
          <a:custGeom>
            <a:avLst/>
            <a:gdLst/>
            <a:ahLst/>
            <a:cxnLst/>
            <a:rect l="l" t="t" r="r" b="b"/>
            <a:pathLst>
              <a:path w="3365500" h="254000">
                <a:moveTo>
                  <a:pt x="0" y="0"/>
                </a:moveTo>
                <a:lnTo>
                  <a:pt x="3340100" y="0"/>
                </a:lnTo>
                <a:arcTo wR="25400" hR="25400" stAng="16200000" swAng="5400000"/>
                <a:lnTo>
                  <a:pt x="3365500" y="228600"/>
                </a:lnTo>
                <a:arcTo wR="25400" hR="25400" stAng="0" swAng="5400000"/>
                <a:lnTo>
                  <a:pt x="0" y="254000"/>
                </a:lnTo>
                <a:lnTo>
                  <a:pt x="0" y="0"/>
                </a:lnTo>
                <a:close/>
              </a:path>
            </a:pathLst>
          </a:custGeom>
          <a:solidFill>
            <a:srgbClr val="2A78D6"/>
          </a:solidFill>
          <a:ln/>
        </p:spPr>
      </p:sp>
      <p:sp>
        <p:nvSpPr>
          <p:cNvPr id="16" name="Text 14"/>
          <p:cNvSpPr/>
          <p:nvPr/>
        </p:nvSpPr>
        <p:spPr>
          <a:xfrm>
            <a:off x="7231380" y="2816864"/>
            <a:ext cx="51377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+0.53</a:t>
            </a:r>
            <a:endParaRPr lang="en-US" sz="1300" dirty="0"/>
          </a:p>
        </p:txBody>
      </p:sp>
      <p:sp>
        <p:nvSpPr>
          <p:cNvPr id="17" name="Text 15"/>
          <p:cNvSpPr/>
          <p:nvPr/>
        </p:nvSpPr>
        <p:spPr>
          <a:xfrm>
            <a:off x="1046480" y="31711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Rear Camera</a:t>
            </a:r>
            <a:endParaRPr lang="en-US" sz="1300" dirty="0"/>
          </a:p>
        </p:txBody>
      </p:sp>
      <p:sp>
        <p:nvSpPr>
          <p:cNvPr id="18" name="Shape 16"/>
          <p:cNvSpPr/>
          <p:nvPr/>
        </p:nvSpPr>
        <p:spPr>
          <a:xfrm>
            <a:off x="3776980" y="3159764"/>
            <a:ext cx="12700" cy="330200"/>
          </a:xfrm>
          <a:prstGeom prst="rect">
            <a:avLst/>
          </a:prstGeom>
          <a:solidFill>
            <a:srgbClr val="8A8F94"/>
          </a:solidFill>
          <a:ln/>
        </p:spPr>
      </p:sp>
      <p:sp>
        <p:nvSpPr>
          <p:cNvPr id="19" name="Shape 17"/>
          <p:cNvSpPr/>
          <p:nvPr/>
        </p:nvSpPr>
        <p:spPr>
          <a:xfrm>
            <a:off x="3776980" y="3159764"/>
            <a:ext cx="2603500" cy="254000"/>
          </a:xfrm>
          <a:custGeom>
            <a:avLst/>
            <a:gdLst/>
            <a:ahLst/>
            <a:cxnLst/>
            <a:rect l="l" t="t" r="r" b="b"/>
            <a:pathLst>
              <a:path w="2603500" h="254000">
                <a:moveTo>
                  <a:pt x="0" y="0"/>
                </a:moveTo>
                <a:lnTo>
                  <a:pt x="2578100" y="0"/>
                </a:lnTo>
                <a:arcTo wR="25400" hR="25400" stAng="16200000" swAng="5400000"/>
                <a:lnTo>
                  <a:pt x="2603500" y="228600"/>
                </a:lnTo>
                <a:arcTo wR="25400" hR="25400" stAng="0" swAng="5400000"/>
                <a:lnTo>
                  <a:pt x="0" y="254000"/>
                </a:lnTo>
                <a:lnTo>
                  <a:pt x="0" y="0"/>
                </a:lnTo>
                <a:close/>
              </a:path>
            </a:pathLst>
          </a:custGeom>
          <a:solidFill>
            <a:srgbClr val="2A78D6"/>
          </a:solidFill>
          <a:ln/>
        </p:spPr>
      </p:sp>
      <p:sp>
        <p:nvSpPr>
          <p:cNvPr id="20" name="Text 18"/>
          <p:cNvSpPr/>
          <p:nvPr/>
        </p:nvSpPr>
        <p:spPr>
          <a:xfrm>
            <a:off x="6469380" y="3185164"/>
            <a:ext cx="45786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+0.41</a:t>
            </a:r>
            <a:endParaRPr lang="en-US" sz="1300" dirty="0"/>
          </a:p>
        </p:txBody>
      </p:sp>
      <p:sp>
        <p:nvSpPr>
          <p:cNvPr id="21" name="Text 19"/>
          <p:cNvSpPr/>
          <p:nvPr/>
        </p:nvSpPr>
        <p:spPr>
          <a:xfrm>
            <a:off x="1046480" y="35394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Mobile Height</a:t>
            </a:r>
            <a:endParaRPr lang="en-US" sz="1300" dirty="0"/>
          </a:p>
        </p:txBody>
      </p:sp>
      <p:sp>
        <p:nvSpPr>
          <p:cNvPr id="22" name="Shape 20"/>
          <p:cNvSpPr/>
          <p:nvPr/>
        </p:nvSpPr>
        <p:spPr>
          <a:xfrm>
            <a:off x="3776980" y="3528064"/>
            <a:ext cx="12700" cy="330200"/>
          </a:xfrm>
          <a:prstGeom prst="rect">
            <a:avLst/>
          </a:prstGeom>
          <a:solidFill>
            <a:srgbClr val="8A8F94"/>
          </a:solidFill>
          <a:ln/>
        </p:spPr>
      </p:sp>
      <p:sp>
        <p:nvSpPr>
          <p:cNvPr id="23" name="Shape 21"/>
          <p:cNvSpPr/>
          <p:nvPr/>
        </p:nvSpPr>
        <p:spPr>
          <a:xfrm>
            <a:off x="3776980" y="3528064"/>
            <a:ext cx="1143000" cy="254000"/>
          </a:xfrm>
          <a:custGeom>
            <a:avLst/>
            <a:gdLst/>
            <a:ahLst/>
            <a:cxnLst/>
            <a:rect l="l" t="t" r="r" b="b"/>
            <a:pathLst>
              <a:path w="1143000" h="254000">
                <a:moveTo>
                  <a:pt x="0" y="0"/>
                </a:moveTo>
                <a:lnTo>
                  <a:pt x="1117600" y="0"/>
                </a:lnTo>
                <a:arcTo wR="25400" hR="25400" stAng="16200000" swAng="5400000"/>
                <a:lnTo>
                  <a:pt x="1143000" y="228600"/>
                </a:lnTo>
                <a:arcTo wR="25400" hR="25400" stAng="0" swAng="5400000"/>
                <a:lnTo>
                  <a:pt x="0" y="254000"/>
                </a:lnTo>
                <a:lnTo>
                  <a:pt x="0" y="0"/>
                </a:lnTo>
                <a:close/>
              </a:path>
            </a:pathLst>
          </a:custGeom>
          <a:solidFill>
            <a:srgbClr val="2A78D6"/>
          </a:solidFill>
          <a:ln/>
        </p:spPr>
      </p:sp>
      <p:sp>
        <p:nvSpPr>
          <p:cNvPr id="24" name="Text 22"/>
          <p:cNvSpPr/>
          <p:nvPr/>
        </p:nvSpPr>
        <p:spPr>
          <a:xfrm>
            <a:off x="5008880" y="3553464"/>
            <a:ext cx="45358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+0.18</a:t>
            </a:r>
            <a:endParaRPr lang="en-US" sz="1300" dirty="0"/>
          </a:p>
        </p:txBody>
      </p:sp>
      <p:sp>
        <p:nvSpPr>
          <p:cNvPr id="25" name="Text 23"/>
          <p:cNvSpPr/>
          <p:nvPr/>
        </p:nvSpPr>
        <p:spPr>
          <a:xfrm>
            <a:off x="1046480" y="39077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Battery</a:t>
            </a:r>
            <a:endParaRPr lang="en-US" sz="1300" dirty="0"/>
          </a:p>
        </p:txBody>
      </p:sp>
      <p:sp>
        <p:nvSpPr>
          <p:cNvPr id="26" name="Shape 24"/>
          <p:cNvSpPr/>
          <p:nvPr/>
        </p:nvSpPr>
        <p:spPr>
          <a:xfrm>
            <a:off x="3776980" y="3896364"/>
            <a:ext cx="12700" cy="330200"/>
          </a:xfrm>
          <a:prstGeom prst="rect">
            <a:avLst/>
          </a:prstGeom>
          <a:solidFill>
            <a:srgbClr val="8A8F94"/>
          </a:solidFill>
          <a:ln/>
        </p:spPr>
      </p:sp>
      <p:sp>
        <p:nvSpPr>
          <p:cNvPr id="27" name="Shape 25"/>
          <p:cNvSpPr/>
          <p:nvPr/>
        </p:nvSpPr>
        <p:spPr>
          <a:xfrm>
            <a:off x="3586480" y="3896364"/>
            <a:ext cx="190500" cy="254000"/>
          </a:xfrm>
          <a:custGeom>
            <a:avLst/>
            <a:gdLst/>
            <a:ahLst/>
            <a:cxnLst/>
            <a:rect l="l" t="t" r="r" b="b"/>
            <a:pathLst>
              <a:path w="190500" h="254000">
                <a:moveTo>
                  <a:pt x="25400" y="0"/>
                </a:moveTo>
                <a:lnTo>
                  <a:pt x="190500" y="0"/>
                </a:lnTo>
                <a:lnTo>
                  <a:pt x="190500" y="254000"/>
                </a:lnTo>
                <a:lnTo>
                  <a:pt x="25400" y="254000"/>
                </a:lnTo>
                <a:arcTo wR="25400" hR="25400" stAng="5400000" swAng="5400000"/>
                <a:lnTo>
                  <a:pt x="0" y="25400"/>
                </a:lnTo>
                <a:arcTo wR="25400" hR="25400" stAng="10800000" swAng="5400000"/>
                <a:close/>
              </a:path>
            </a:pathLst>
          </a:custGeom>
          <a:solidFill>
            <a:srgbClr val="2A78D6"/>
          </a:solidFill>
          <a:ln/>
        </p:spPr>
      </p:sp>
      <p:sp>
        <p:nvSpPr>
          <p:cNvPr id="28" name="Text 26"/>
          <p:cNvSpPr/>
          <p:nvPr/>
        </p:nvSpPr>
        <p:spPr>
          <a:xfrm>
            <a:off x="3014980" y="3921764"/>
            <a:ext cx="51873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-0.03</a:t>
            </a:r>
            <a:endParaRPr lang="en-US" sz="1300" dirty="0"/>
          </a:p>
        </p:txBody>
      </p:sp>
      <p:sp>
        <p:nvSpPr>
          <p:cNvPr id="29" name="Text 27"/>
          <p:cNvSpPr/>
          <p:nvPr/>
        </p:nvSpPr>
        <p:spPr>
          <a:xfrm>
            <a:off x="1046480" y="4276092"/>
            <a:ext cx="1574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AI Lens</a:t>
            </a:r>
            <a:endParaRPr lang="en-US" sz="1300" dirty="0"/>
          </a:p>
        </p:txBody>
      </p:sp>
      <p:sp>
        <p:nvSpPr>
          <p:cNvPr id="30" name="Shape 28"/>
          <p:cNvSpPr/>
          <p:nvPr/>
        </p:nvSpPr>
        <p:spPr>
          <a:xfrm>
            <a:off x="3776980" y="4264664"/>
            <a:ext cx="12700" cy="330200"/>
          </a:xfrm>
          <a:prstGeom prst="rect">
            <a:avLst/>
          </a:prstGeom>
          <a:solidFill>
            <a:srgbClr val="8A8F94"/>
          </a:solidFill>
          <a:ln/>
        </p:spPr>
      </p:sp>
      <p:sp>
        <p:nvSpPr>
          <p:cNvPr id="31" name="Shape 29"/>
          <p:cNvSpPr/>
          <p:nvPr/>
        </p:nvSpPr>
        <p:spPr>
          <a:xfrm>
            <a:off x="2824480" y="4264664"/>
            <a:ext cx="952500" cy="254000"/>
          </a:xfrm>
          <a:custGeom>
            <a:avLst/>
            <a:gdLst/>
            <a:ahLst/>
            <a:cxnLst/>
            <a:rect l="l" t="t" r="r" b="b"/>
            <a:pathLst>
              <a:path w="952500" h="254000">
                <a:moveTo>
                  <a:pt x="25400" y="0"/>
                </a:moveTo>
                <a:lnTo>
                  <a:pt x="952500" y="0"/>
                </a:lnTo>
                <a:lnTo>
                  <a:pt x="952500" y="254000"/>
                </a:lnTo>
                <a:lnTo>
                  <a:pt x="25400" y="254000"/>
                </a:lnTo>
                <a:arcTo wR="25400" hR="25400" stAng="5400000" swAng="5400000"/>
                <a:lnTo>
                  <a:pt x="0" y="25400"/>
                </a:lnTo>
                <a:arcTo wR="25400" hR="25400" stAng="10800000" swAng="5400000"/>
                <a:close/>
              </a:path>
            </a:pathLst>
          </a:custGeom>
          <a:solidFill>
            <a:srgbClr val="2A78D6"/>
          </a:solidFill>
          <a:ln/>
        </p:spPr>
      </p:sp>
      <p:sp>
        <p:nvSpPr>
          <p:cNvPr id="32" name="Text 30"/>
          <p:cNvSpPr/>
          <p:nvPr/>
        </p:nvSpPr>
        <p:spPr>
          <a:xfrm>
            <a:off x="2697480" y="4290064"/>
            <a:ext cx="45215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DM Sans" pitchFamily="34" charset="0"/>
                <a:ea typeface="DM Sans" pitchFamily="34" charset="-122"/>
                <a:cs typeface="DM Sans" pitchFamily="34" charset="-120"/>
              </a:rPr>
              <a:t>-0.15</a:t>
            </a:r>
            <a:endParaRPr lang="en-US" sz="1300" dirty="0"/>
          </a:p>
        </p:txBody>
      </p:sp>
      <p:sp>
        <p:nvSpPr>
          <p:cNvPr id="33" name="Text 31"/>
          <p:cNvSpPr/>
          <p:nvPr/>
        </p:nvSpPr>
        <p:spPr>
          <a:xfrm>
            <a:off x="812800" y="4955542"/>
            <a:ext cx="1088339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Memory, RAM and front camera rise with price, but they also come bundled with better chipsets. Once the chipset is known, they add little, so importance and correlation tell different stories. AI Lens and Battery show almost no link on their own.</a:t>
            </a:r>
            <a:endParaRPr lang="en-US" sz="1500" dirty="0"/>
          </a:p>
        </p:txBody>
      </p:sp>
      <p:sp>
        <p:nvSpPr>
          <p:cNvPr id="34" name="Text 32"/>
          <p:cNvSpPr/>
          <p:nvPr/>
        </p:nvSpPr>
        <p:spPr>
          <a:xfrm>
            <a:off x="812800" y="6238242"/>
            <a:ext cx="26801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Pearson correlation, 541 phones</a:t>
            </a:r>
            <a:endParaRPr lang="en-US" sz="1200" dirty="0"/>
          </a:p>
        </p:txBody>
      </p:sp>
      <p:sp>
        <p:nvSpPr>
          <p:cNvPr id="35" name="Text 33"/>
          <p:cNvSpPr/>
          <p:nvPr/>
        </p:nvSpPr>
        <p:spPr>
          <a:xfrm>
            <a:off x="11227356" y="6238242"/>
            <a:ext cx="20264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Most phones are predicted within ₹500</a:t>
            </a:r>
            <a:endParaRPr lang="en-US" sz="3200" dirty="0"/>
          </a:p>
        </p:txBody>
      </p:sp>
      <p:sp>
        <p:nvSpPr>
          <p:cNvPr id="3" name="Shape 1"/>
          <p:cNvSpPr/>
          <p:nvPr/>
        </p:nvSpPr>
        <p:spPr>
          <a:xfrm>
            <a:off x="815975" y="1466217"/>
            <a:ext cx="6398498" cy="2506345"/>
          </a:xfrm>
          <a:prstGeom prst="roundRect">
            <a:avLst>
              <a:gd name="adj" fmla="val 3927"/>
            </a:avLst>
          </a:prstGeom>
          <a:solidFill>
            <a:srgbClr val="FFFFFF"/>
          </a:solidFill>
          <a:ln w="6350">
            <a:solidFill>
              <a:srgbClr val="E3E6E4"/>
            </a:solidFill>
            <a:prstDash val="solid"/>
          </a:ln>
        </p:spPr>
      </p:sp>
      <p:sp>
        <p:nvSpPr>
          <p:cNvPr id="4" name="Text 2"/>
          <p:cNvSpPr/>
          <p:nvPr/>
        </p:nvSpPr>
        <p:spPr>
          <a:xfrm>
            <a:off x="1046480" y="1696721"/>
            <a:ext cx="616481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Share of the 109 test phones predicted within a given miss</a:t>
            </a:r>
            <a:endParaRPr lang="en-US" sz="1600" dirty="0"/>
          </a:p>
        </p:txBody>
      </p:sp>
      <p:sp>
        <p:nvSpPr>
          <p:cNvPr id="5" name="Text 3"/>
          <p:cNvSpPr/>
          <p:nvPr/>
        </p:nvSpPr>
        <p:spPr>
          <a:xfrm>
            <a:off x="1046480" y="2070100"/>
            <a:ext cx="1320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Within ₹250</a:t>
            </a:r>
            <a:endParaRPr lang="en-US" sz="1400" dirty="0"/>
          </a:p>
        </p:txBody>
      </p:sp>
      <p:sp>
        <p:nvSpPr>
          <p:cNvPr id="6" name="Shape 4"/>
          <p:cNvSpPr/>
          <p:nvPr/>
        </p:nvSpPr>
        <p:spPr>
          <a:xfrm>
            <a:off x="2443480" y="2067564"/>
            <a:ext cx="1981200" cy="254000"/>
          </a:xfrm>
          <a:custGeom>
            <a:avLst/>
            <a:gdLst/>
            <a:ahLst/>
            <a:cxnLst/>
            <a:rect l="l" t="t" r="r" b="b"/>
            <a:pathLst>
              <a:path w="1981200" h="254000">
                <a:moveTo>
                  <a:pt x="0" y="0"/>
                </a:moveTo>
                <a:lnTo>
                  <a:pt x="1955800" y="0"/>
                </a:lnTo>
                <a:arcTo wR="25400" hR="25400" stAng="16200000" swAng="5400000"/>
                <a:lnTo>
                  <a:pt x="1981200" y="228600"/>
                </a:lnTo>
                <a:arcTo wR="25400" hR="25400" stAng="0" swAng="5400000"/>
                <a:lnTo>
                  <a:pt x="0" y="254000"/>
                </a:lnTo>
                <a:lnTo>
                  <a:pt x="0" y="0"/>
                </a:lnTo>
                <a:close/>
              </a:path>
            </a:pathLst>
          </a:custGeom>
          <a:solidFill>
            <a:srgbClr val="2A78D6"/>
          </a:solidFill>
          <a:ln/>
        </p:spPr>
      </p:sp>
      <p:sp>
        <p:nvSpPr>
          <p:cNvPr id="7" name="Text 5"/>
          <p:cNvSpPr/>
          <p:nvPr/>
        </p:nvSpPr>
        <p:spPr>
          <a:xfrm>
            <a:off x="4551680" y="2070100"/>
            <a:ext cx="41719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52%</a:t>
            </a:r>
            <a:endParaRPr lang="en-US" sz="1400" dirty="0"/>
          </a:p>
        </p:txBody>
      </p:sp>
      <p:sp>
        <p:nvSpPr>
          <p:cNvPr id="8" name="Text 6"/>
          <p:cNvSpPr/>
          <p:nvPr/>
        </p:nvSpPr>
        <p:spPr>
          <a:xfrm>
            <a:off x="1046480" y="2451100"/>
            <a:ext cx="1320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Within ₹500</a:t>
            </a:r>
            <a:endParaRPr lang="en-US" sz="1400" dirty="0"/>
          </a:p>
        </p:txBody>
      </p:sp>
      <p:sp>
        <p:nvSpPr>
          <p:cNvPr id="9" name="Shape 7"/>
          <p:cNvSpPr/>
          <p:nvPr/>
        </p:nvSpPr>
        <p:spPr>
          <a:xfrm>
            <a:off x="2443480" y="2448564"/>
            <a:ext cx="2705100" cy="254000"/>
          </a:xfrm>
          <a:custGeom>
            <a:avLst/>
            <a:gdLst/>
            <a:ahLst/>
            <a:cxnLst/>
            <a:rect l="l" t="t" r="r" b="b"/>
            <a:pathLst>
              <a:path w="2705100" h="254000">
                <a:moveTo>
                  <a:pt x="0" y="0"/>
                </a:moveTo>
                <a:lnTo>
                  <a:pt x="2679700" y="0"/>
                </a:lnTo>
                <a:arcTo wR="25400" hR="25400" stAng="16200000" swAng="5400000"/>
                <a:lnTo>
                  <a:pt x="2705100" y="228600"/>
                </a:lnTo>
                <a:arcTo wR="25400" hR="25400" stAng="0" swAng="5400000"/>
                <a:lnTo>
                  <a:pt x="0" y="254000"/>
                </a:lnTo>
                <a:lnTo>
                  <a:pt x="0" y="0"/>
                </a:lnTo>
                <a:close/>
              </a:path>
            </a:pathLst>
          </a:custGeom>
          <a:solidFill>
            <a:srgbClr val="2A78D6"/>
          </a:solidFill>
          <a:ln/>
        </p:spPr>
      </p:sp>
      <p:sp>
        <p:nvSpPr>
          <p:cNvPr id="10" name="Text 8"/>
          <p:cNvSpPr/>
          <p:nvPr/>
        </p:nvSpPr>
        <p:spPr>
          <a:xfrm>
            <a:off x="5275580" y="2451100"/>
            <a:ext cx="34909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71%</a:t>
            </a:r>
            <a:endParaRPr lang="en-US" sz="1400" dirty="0"/>
          </a:p>
        </p:txBody>
      </p:sp>
      <p:sp>
        <p:nvSpPr>
          <p:cNvPr id="11" name="Text 9"/>
          <p:cNvSpPr/>
          <p:nvPr/>
        </p:nvSpPr>
        <p:spPr>
          <a:xfrm>
            <a:off x="1046480" y="2832100"/>
            <a:ext cx="1320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Within ₹1,000</a:t>
            </a:r>
            <a:endParaRPr lang="en-US" sz="1400" dirty="0"/>
          </a:p>
        </p:txBody>
      </p:sp>
      <p:sp>
        <p:nvSpPr>
          <p:cNvPr id="12" name="Shape 10"/>
          <p:cNvSpPr/>
          <p:nvPr/>
        </p:nvSpPr>
        <p:spPr>
          <a:xfrm>
            <a:off x="2443480" y="2829564"/>
            <a:ext cx="3009900" cy="254000"/>
          </a:xfrm>
          <a:custGeom>
            <a:avLst/>
            <a:gdLst/>
            <a:ahLst/>
            <a:cxnLst/>
            <a:rect l="l" t="t" r="r" b="b"/>
            <a:pathLst>
              <a:path w="3009900" h="254000">
                <a:moveTo>
                  <a:pt x="0" y="0"/>
                </a:moveTo>
                <a:lnTo>
                  <a:pt x="2984500" y="0"/>
                </a:lnTo>
                <a:arcTo wR="25400" hR="25400" stAng="16200000" swAng="5400000"/>
                <a:lnTo>
                  <a:pt x="3009900" y="228600"/>
                </a:lnTo>
                <a:arcTo wR="25400" hR="25400" stAng="0" swAng="5400000"/>
                <a:lnTo>
                  <a:pt x="0" y="254000"/>
                </a:lnTo>
                <a:lnTo>
                  <a:pt x="0" y="0"/>
                </a:lnTo>
                <a:close/>
              </a:path>
            </a:pathLst>
          </a:custGeom>
          <a:solidFill>
            <a:srgbClr val="2A78D6"/>
          </a:solidFill>
          <a:ln/>
        </p:spPr>
      </p:sp>
      <p:sp>
        <p:nvSpPr>
          <p:cNvPr id="13" name="Text 11"/>
          <p:cNvSpPr/>
          <p:nvPr/>
        </p:nvSpPr>
        <p:spPr>
          <a:xfrm>
            <a:off x="5580380" y="2832100"/>
            <a:ext cx="41014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79%</a:t>
            </a:r>
            <a:endParaRPr lang="en-US" sz="1400" dirty="0"/>
          </a:p>
        </p:txBody>
      </p:sp>
      <p:sp>
        <p:nvSpPr>
          <p:cNvPr id="14" name="Text 12"/>
          <p:cNvSpPr/>
          <p:nvPr/>
        </p:nvSpPr>
        <p:spPr>
          <a:xfrm>
            <a:off x="1046480" y="3213100"/>
            <a:ext cx="1320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Within ₹2,000</a:t>
            </a:r>
            <a:endParaRPr lang="en-US" sz="1400" dirty="0"/>
          </a:p>
        </p:txBody>
      </p:sp>
      <p:sp>
        <p:nvSpPr>
          <p:cNvPr id="15" name="Shape 13"/>
          <p:cNvSpPr/>
          <p:nvPr/>
        </p:nvSpPr>
        <p:spPr>
          <a:xfrm>
            <a:off x="2443480" y="3210564"/>
            <a:ext cx="3352800" cy="254000"/>
          </a:xfrm>
          <a:custGeom>
            <a:avLst/>
            <a:gdLst/>
            <a:ahLst/>
            <a:cxnLst/>
            <a:rect l="l" t="t" r="r" b="b"/>
            <a:pathLst>
              <a:path w="3352800" h="254000">
                <a:moveTo>
                  <a:pt x="0" y="0"/>
                </a:moveTo>
                <a:lnTo>
                  <a:pt x="3327400" y="0"/>
                </a:lnTo>
                <a:arcTo wR="25400" hR="25400" stAng="16200000" swAng="5400000"/>
                <a:lnTo>
                  <a:pt x="3352800" y="228600"/>
                </a:lnTo>
                <a:arcTo wR="25400" hR="25400" stAng="0" swAng="5400000"/>
                <a:lnTo>
                  <a:pt x="0" y="254000"/>
                </a:lnTo>
                <a:lnTo>
                  <a:pt x="0" y="0"/>
                </a:lnTo>
                <a:close/>
              </a:path>
            </a:pathLst>
          </a:custGeom>
          <a:solidFill>
            <a:srgbClr val="2A78D6"/>
          </a:solidFill>
          <a:ln/>
        </p:spPr>
      </p:sp>
      <p:sp>
        <p:nvSpPr>
          <p:cNvPr id="16" name="Text 14"/>
          <p:cNvSpPr/>
          <p:nvPr/>
        </p:nvSpPr>
        <p:spPr>
          <a:xfrm>
            <a:off x="5923280" y="3213100"/>
            <a:ext cx="42719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88%</a:t>
            </a:r>
            <a:endParaRPr lang="en-US" sz="1400" dirty="0"/>
          </a:p>
        </p:txBody>
      </p:sp>
      <p:sp>
        <p:nvSpPr>
          <p:cNvPr id="17" name="Shape 15"/>
          <p:cNvSpPr/>
          <p:nvPr/>
        </p:nvSpPr>
        <p:spPr>
          <a:xfrm>
            <a:off x="7424024" y="1466217"/>
            <a:ext cx="3952002" cy="1080135"/>
          </a:xfrm>
          <a:prstGeom prst="roundRect">
            <a:avLst>
              <a:gd name="adj" fmla="val 9112"/>
            </a:avLst>
          </a:prstGeom>
          <a:solidFill>
            <a:srgbClr val="FFFFFF"/>
          </a:solidFill>
          <a:ln w="6350">
            <a:solidFill>
              <a:srgbClr val="E3E6E4"/>
            </a:solidFill>
            <a:prstDash val="solid"/>
          </a:ln>
        </p:spPr>
      </p:sp>
      <p:sp>
        <p:nvSpPr>
          <p:cNvPr id="18" name="Text 16"/>
          <p:cNvSpPr/>
          <p:nvPr/>
        </p:nvSpPr>
        <p:spPr>
          <a:xfrm>
            <a:off x="7654528" y="1645921"/>
            <a:ext cx="359572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C5CAB"/>
                </a:solidFill>
                <a:latin typeface="DM Sans" pitchFamily="34" charset="0"/>
                <a:ea typeface="DM Sans" pitchFamily="34" charset="-122"/>
                <a:cs typeface="DM Sans" pitchFamily="34" charset="-120"/>
              </a:rPr>
              <a:t>₹174</a:t>
            </a:r>
            <a:endParaRPr lang="en-US" sz="3200" dirty="0"/>
          </a:p>
        </p:txBody>
      </p:sp>
      <p:sp>
        <p:nvSpPr>
          <p:cNvPr id="19" name="Text 17"/>
          <p:cNvSpPr/>
          <p:nvPr/>
        </p:nvSpPr>
        <p:spPr>
          <a:xfrm>
            <a:off x="7654528" y="2143764"/>
            <a:ext cx="3595722"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DM Sans" pitchFamily="34" charset="0"/>
                <a:ea typeface="DM Sans" pitchFamily="34" charset="-122"/>
                <a:cs typeface="DM Sans" pitchFamily="34" charset="-120"/>
              </a:rPr>
              <a:t>median miss, the typical phone</a:t>
            </a:r>
            <a:endParaRPr lang="en-US" sz="1300" dirty="0"/>
          </a:p>
        </p:txBody>
      </p:sp>
      <p:sp>
        <p:nvSpPr>
          <p:cNvPr id="20" name="Shape 18"/>
          <p:cNvSpPr/>
          <p:nvPr/>
        </p:nvSpPr>
        <p:spPr>
          <a:xfrm>
            <a:off x="7420849" y="2676525"/>
            <a:ext cx="3958352" cy="1299210"/>
          </a:xfrm>
          <a:prstGeom prst="roundRect">
            <a:avLst>
              <a:gd name="adj" fmla="val 7820"/>
            </a:avLst>
          </a:prstGeom>
          <a:solidFill>
            <a:srgbClr val="FDE6DC"/>
          </a:solidFill>
          <a:ln/>
        </p:spPr>
      </p:sp>
      <p:sp>
        <p:nvSpPr>
          <p:cNvPr id="21" name="Text 19"/>
          <p:cNvSpPr/>
          <p:nvPr/>
        </p:nvSpPr>
        <p:spPr>
          <a:xfrm>
            <a:off x="7649449" y="2854325"/>
            <a:ext cx="3606186"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DM Sans" pitchFamily="34" charset="0"/>
                <a:ea typeface="DM Sans" pitchFamily="34" charset="-122"/>
                <a:cs typeface="DM Sans" pitchFamily="34" charset="-120"/>
              </a:rPr>
              <a:t>65%</a:t>
            </a:r>
            <a:endParaRPr lang="en-US" sz="3200" dirty="0"/>
          </a:p>
        </p:txBody>
      </p:sp>
      <p:sp>
        <p:nvSpPr>
          <p:cNvPr id="22" name="Text 20"/>
          <p:cNvSpPr/>
          <p:nvPr/>
        </p:nvSpPr>
        <p:spPr>
          <a:xfrm>
            <a:off x="7649449" y="3352167"/>
            <a:ext cx="3606186"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DM Sans" pitchFamily="34" charset="0"/>
                <a:ea typeface="DM Sans" pitchFamily="34" charset="-122"/>
                <a:cs typeface="DM Sans" pitchFamily="34" charset="-120"/>
              </a:rPr>
              <a:t>of squared error comes from one phone: ₹79,999 actual, ₹49,265 predicted</a:t>
            </a:r>
            <a:endParaRPr lang="en-US" sz="1300" dirty="0"/>
          </a:p>
        </p:txBody>
      </p:sp>
      <p:sp>
        <p:nvSpPr>
          <p:cNvPr id="23" name="Text 21"/>
          <p:cNvSpPr/>
          <p:nvPr/>
        </p:nvSpPr>
        <p:spPr>
          <a:xfrm>
            <a:off x="812800" y="4178939"/>
            <a:ext cx="108833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53 phones were under-predicted and 56 over-predicted, so there is no systematic bias. The ₹80,999 iPhones were predicted almost perfectly, because the Apple label is a strong shortcut. That one outlier is why RMSE (3,639) is so much larger than MAE (1,126).</a:t>
            </a:r>
            <a:endParaRPr lang="en-US" sz="1400" dirty="0"/>
          </a:p>
        </p:txBody>
      </p:sp>
      <p:sp>
        <p:nvSpPr>
          <p:cNvPr id="24" name="Text 22"/>
          <p:cNvSpPr/>
          <p:nvPr/>
        </p:nvSpPr>
        <p:spPr>
          <a:xfrm>
            <a:off x="812800" y="6238242"/>
            <a:ext cx="42214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Test set errors: actual price minus predicted price</a:t>
            </a:r>
            <a:endParaRPr lang="en-US" sz="1200" dirty="0"/>
          </a:p>
        </p:txBody>
      </p:sp>
      <p:sp>
        <p:nvSpPr>
          <p:cNvPr id="25" name="Text 23"/>
          <p:cNvSpPr/>
          <p:nvPr/>
        </p:nvSpPr>
        <p:spPr>
          <a:xfrm>
            <a:off x="11284030" y="6238242"/>
            <a:ext cx="14597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What was achieved, and what can be improved</a:t>
            </a:r>
            <a:endParaRPr lang="en-US" sz="3200" dirty="0"/>
          </a:p>
        </p:txBody>
      </p:sp>
      <p:sp>
        <p:nvSpPr>
          <p:cNvPr id="3" name="Shape 1"/>
          <p:cNvSpPr/>
          <p:nvPr/>
        </p:nvSpPr>
        <p:spPr>
          <a:xfrm>
            <a:off x="815975" y="1466216"/>
            <a:ext cx="5175250" cy="3203437"/>
          </a:xfrm>
          <a:prstGeom prst="roundRect">
            <a:avLst>
              <a:gd name="adj" fmla="val 4237"/>
            </a:avLst>
          </a:prstGeom>
          <a:solidFill>
            <a:srgbClr val="FFFFFF"/>
          </a:solidFill>
          <a:ln w="6350">
            <a:solidFill>
              <a:srgbClr val="E3E6E4"/>
            </a:solidFill>
            <a:prstDash val="solid"/>
          </a:ln>
        </p:spPr>
      </p:sp>
      <p:sp>
        <p:nvSpPr>
          <p:cNvPr id="4" name="Text 2"/>
          <p:cNvSpPr/>
          <p:nvPr/>
        </p:nvSpPr>
        <p:spPr>
          <a:xfrm>
            <a:off x="1046480" y="1696721"/>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Accomplished</a:t>
            </a:r>
            <a:endParaRPr lang="en-US" sz="1200" dirty="0"/>
          </a:p>
        </p:txBody>
      </p:sp>
      <p:sp>
        <p:nvSpPr>
          <p:cNvPr id="5" name="Text 3"/>
          <p:cNvSpPr/>
          <p:nvPr/>
        </p:nvSpPr>
        <p:spPr>
          <a:xfrm>
            <a:off x="1131062" y="2011679"/>
            <a:ext cx="4763465" cy="2524810"/>
          </a:xfrm>
          <a:prstGeom prst="rect">
            <a:avLst/>
          </a:prstGeom>
          <a:noFill/>
          <a:ln/>
        </p:spPr>
        <p:txBody>
          <a:bodyPr wrap="square" lIns="0" tIns="0" rIns="0" bIns="0" rtlCol="0" anchor="t">
            <a:noAutofit/>
          </a:bodyPr>
          <a:lstStyle/>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Predicts price for budget and mid-range phones, which are most of the data: typical miss ₹1,126, and ₹174 for the median phone</a:t>
            </a:r>
          </a:p>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Beats the Linear Regression baseline by 41% on the test set (R² 0.904)</a:t>
            </a:r>
          </a:p>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Identifies what drives price: chipset class (Tier, Processor, Manufacturer) accounts for about 94% of what the model relies on</a:t>
            </a:r>
          </a:p>
          <a:p>
            <a:pPr marL="169418" indent="-169418">
              <a:lnSpc>
                <a:spcPts val="2030"/>
              </a:lnSpc>
              <a:buSzPct val="100000"/>
              <a:buFontTx/>
              <a:buChar char="•"/>
            </a:pPr>
            <a:r>
              <a:rPr lang="en-US" sz="1200" dirty="0"/>
              <a:t>Cleaned a messy processor column and checked for leakage before modelling</a:t>
            </a:r>
          </a:p>
          <a:p>
            <a:pPr marL="169418" indent="-169418" algn="l">
              <a:lnSpc>
                <a:spcPts val="2030"/>
              </a:lnSpc>
              <a:buSzPct val="100000"/>
              <a:buChar char="•"/>
            </a:pPr>
            <a:endParaRPr lang="en-US" sz="1200" dirty="0"/>
          </a:p>
        </p:txBody>
      </p:sp>
      <p:sp>
        <p:nvSpPr>
          <p:cNvPr id="6" name="Shape 4"/>
          <p:cNvSpPr/>
          <p:nvPr/>
        </p:nvSpPr>
        <p:spPr>
          <a:xfrm>
            <a:off x="6200775" y="1466217"/>
            <a:ext cx="5175250" cy="3203436"/>
          </a:xfrm>
          <a:prstGeom prst="roundRect">
            <a:avLst>
              <a:gd name="adj" fmla="val 4237"/>
            </a:avLst>
          </a:prstGeom>
          <a:solidFill>
            <a:srgbClr val="FFFFFF"/>
          </a:solidFill>
          <a:ln w="6350">
            <a:solidFill>
              <a:srgbClr val="E3E6E4"/>
            </a:solidFill>
            <a:prstDash val="solid"/>
          </a:ln>
        </p:spPr>
      </p:sp>
      <p:sp>
        <p:nvSpPr>
          <p:cNvPr id="7" name="Text 5"/>
          <p:cNvSpPr/>
          <p:nvPr/>
        </p:nvSpPr>
        <p:spPr>
          <a:xfrm>
            <a:off x="6431280" y="1696721"/>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B6834"/>
                </a:solidFill>
                <a:latin typeface="DM Sans" pitchFamily="34" charset="0"/>
                <a:ea typeface="DM Sans" pitchFamily="34" charset="-122"/>
                <a:cs typeface="DM Sans" pitchFamily="34" charset="-120"/>
              </a:rPr>
              <a:t>Can be improved</a:t>
            </a:r>
            <a:endParaRPr lang="en-US" sz="1200" dirty="0"/>
          </a:p>
        </p:txBody>
      </p:sp>
      <p:sp>
        <p:nvSpPr>
          <p:cNvPr id="8" name="Text 6"/>
          <p:cNvSpPr/>
          <p:nvPr/>
        </p:nvSpPr>
        <p:spPr>
          <a:xfrm>
            <a:off x="6515862" y="2011679"/>
            <a:ext cx="4763465" cy="2524810"/>
          </a:xfrm>
          <a:prstGeom prst="rect">
            <a:avLst/>
          </a:prstGeom>
          <a:noFill/>
          <a:ln/>
        </p:spPr>
        <p:txBody>
          <a:bodyPr wrap="square" lIns="0" tIns="0" rIns="0" bIns="0" rtlCol="0" anchor="t">
            <a:noAutofit/>
          </a:bodyPr>
          <a:lstStyle/>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Premium phones above ₹50,000: only 8 examples, so more premium data would raise accuracy there</a:t>
            </a:r>
          </a:p>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Test a phone brand feature and a finer chipset tier, to separate phones that share the same chip</a:t>
            </a:r>
          </a:p>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Confirm the scores with cross-validation grouped by phone model, since </a:t>
            </a:r>
            <a:r>
              <a:rPr lang="en-US" sz="1200" dirty="0" err="1">
                <a:solidFill>
                  <a:srgbClr val="14213D"/>
                </a:solidFill>
                <a:latin typeface="DM Sans" pitchFamily="34" charset="0"/>
                <a:ea typeface="DM Sans" pitchFamily="34" charset="-122"/>
                <a:cs typeface="DM Sans" pitchFamily="34" charset="-120"/>
              </a:rPr>
              <a:t>colour</a:t>
            </a:r>
            <a:r>
              <a:rPr lang="en-US" sz="1200" dirty="0">
                <a:solidFill>
                  <a:srgbClr val="14213D"/>
                </a:solidFill>
                <a:latin typeface="DM Sans" pitchFamily="34" charset="0"/>
                <a:ea typeface="DM Sans" pitchFamily="34" charset="-122"/>
                <a:cs typeface="DM Sans" pitchFamily="34" charset="-120"/>
              </a:rPr>
              <a:t> variants of one phone can appear in both train and test</a:t>
            </a:r>
          </a:p>
          <a:p>
            <a:pPr marL="169418" indent="-169418" algn="l">
              <a:lnSpc>
                <a:spcPts val="2030"/>
              </a:lnSpc>
              <a:buSzPct val="100000"/>
              <a:buChar char="•"/>
            </a:pPr>
            <a:r>
              <a:rPr lang="en-US" sz="1200" dirty="0">
                <a:solidFill>
                  <a:srgbClr val="14213D"/>
                </a:solidFill>
                <a:latin typeface="DM Sans" pitchFamily="34" charset="0"/>
                <a:ea typeface="DM Sans" pitchFamily="34" charset="-122"/>
                <a:cs typeface="DM Sans" pitchFamily="34" charset="-120"/>
              </a:rPr>
              <a:t>Confirm cause: importance shows what the model relies on, so a controlled comparison would test whether a feature really moves price</a:t>
            </a:r>
            <a:endParaRPr lang="en-US" sz="1200" dirty="0"/>
          </a:p>
        </p:txBody>
      </p:sp>
      <p:sp>
        <p:nvSpPr>
          <p:cNvPr id="9" name="Text 7"/>
          <p:cNvSpPr/>
          <p:nvPr/>
        </p:nvSpPr>
        <p:spPr>
          <a:xfrm>
            <a:off x="815975" y="502411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 separate model for premium phones was considered and rejected: 8 examples are too few to train on.</a:t>
            </a:r>
            <a:endParaRPr lang="en-US" sz="1400" dirty="0"/>
          </a:p>
        </p:txBody>
      </p:sp>
      <p:sp>
        <p:nvSpPr>
          <p:cNvPr id="10" name="Text 8"/>
          <p:cNvSpPr/>
          <p:nvPr/>
        </p:nvSpPr>
        <p:spPr>
          <a:xfrm>
            <a:off x="812800" y="6238242"/>
            <a:ext cx="30598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Mobile price prediction · 541 phones</a:t>
            </a:r>
            <a:endParaRPr lang="en-US" sz="1200" dirty="0"/>
          </a:p>
        </p:txBody>
      </p:sp>
      <p:sp>
        <p:nvSpPr>
          <p:cNvPr id="11" name="Text 9"/>
          <p:cNvSpPr/>
          <p:nvPr/>
        </p:nvSpPr>
        <p:spPr>
          <a:xfrm>
            <a:off x="11243866" y="6238242"/>
            <a:ext cx="18613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Recommendations for pricing and marketing</a:t>
            </a:r>
            <a:endParaRPr lang="en-US" sz="3200" dirty="0"/>
          </a:p>
        </p:txBody>
      </p:sp>
      <p:sp>
        <p:nvSpPr>
          <p:cNvPr id="3" name="Shape 1"/>
          <p:cNvSpPr/>
          <p:nvPr/>
        </p:nvSpPr>
        <p:spPr>
          <a:xfrm>
            <a:off x="815975" y="1466217"/>
            <a:ext cx="2523490" cy="2419350"/>
          </a:xfrm>
          <a:prstGeom prst="roundRect">
            <a:avLst>
              <a:gd name="adj" fmla="val 4068"/>
            </a:avLst>
          </a:prstGeom>
          <a:solidFill>
            <a:srgbClr val="FFFFFF"/>
          </a:solidFill>
          <a:ln w="6350">
            <a:solidFill>
              <a:srgbClr val="E3E6E4"/>
            </a:solidFill>
            <a:prstDash val="solid"/>
          </a:ln>
        </p:spPr>
      </p:sp>
      <p:sp>
        <p:nvSpPr>
          <p:cNvPr id="4" name="Text 2"/>
          <p:cNvSpPr/>
          <p:nvPr/>
        </p:nvSpPr>
        <p:spPr>
          <a:xfrm>
            <a:off x="1021080" y="167132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1 · PRICE BY CHIPSET</a:t>
            </a:r>
            <a:endParaRPr lang="en-US" sz="1200" dirty="0"/>
          </a:p>
        </p:txBody>
      </p:sp>
      <p:sp>
        <p:nvSpPr>
          <p:cNvPr id="5" name="Text 3"/>
          <p:cNvSpPr/>
          <p:nvPr/>
        </p:nvSpPr>
        <p:spPr>
          <a:xfrm>
            <a:off x="1021080" y="1973579"/>
            <a:ext cx="2176679"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Chipset class sets the price band: about 94% of what the model uses. Position a phone by its chip first.</a:t>
            </a:r>
            <a:endParaRPr lang="en-US" sz="1400" dirty="0"/>
          </a:p>
        </p:txBody>
      </p:sp>
      <p:sp>
        <p:nvSpPr>
          <p:cNvPr id="6" name="Shape 4"/>
          <p:cNvSpPr/>
          <p:nvPr/>
        </p:nvSpPr>
        <p:spPr>
          <a:xfrm>
            <a:off x="3498215" y="1466217"/>
            <a:ext cx="2523490" cy="2419350"/>
          </a:xfrm>
          <a:prstGeom prst="roundRect">
            <a:avLst>
              <a:gd name="adj" fmla="val 4068"/>
            </a:avLst>
          </a:prstGeom>
          <a:solidFill>
            <a:srgbClr val="FFFFFF"/>
          </a:solidFill>
          <a:ln w="6350">
            <a:solidFill>
              <a:srgbClr val="E3E6E4"/>
            </a:solidFill>
            <a:prstDash val="solid"/>
          </a:ln>
        </p:spPr>
      </p:sp>
      <p:sp>
        <p:nvSpPr>
          <p:cNvPr id="7" name="Text 5"/>
          <p:cNvSpPr/>
          <p:nvPr/>
        </p:nvSpPr>
        <p:spPr>
          <a:xfrm>
            <a:off x="3703320" y="1671321"/>
            <a:ext cx="2176679" cy="4521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2 · DON'T OVER-CHARGE SPECS</a:t>
            </a:r>
            <a:endParaRPr lang="en-US" sz="1200" dirty="0"/>
          </a:p>
        </p:txBody>
      </p:sp>
      <p:sp>
        <p:nvSpPr>
          <p:cNvPr id="8" name="Text 6"/>
          <p:cNvSpPr/>
          <p:nvPr/>
        </p:nvSpPr>
        <p:spPr>
          <a:xfrm>
            <a:off x="3703320" y="2186942"/>
            <a:ext cx="2176679" cy="15189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RAM, memory and camera correlate with price mainly because they come with better chips. Alone they add little.</a:t>
            </a:r>
            <a:endParaRPr lang="en-US" sz="1400" dirty="0"/>
          </a:p>
        </p:txBody>
      </p:sp>
      <p:sp>
        <p:nvSpPr>
          <p:cNvPr id="9" name="Shape 7"/>
          <p:cNvSpPr/>
          <p:nvPr/>
        </p:nvSpPr>
        <p:spPr>
          <a:xfrm>
            <a:off x="6180455" y="1466217"/>
            <a:ext cx="2523490" cy="2419350"/>
          </a:xfrm>
          <a:prstGeom prst="roundRect">
            <a:avLst>
              <a:gd name="adj" fmla="val 4068"/>
            </a:avLst>
          </a:prstGeom>
          <a:solidFill>
            <a:srgbClr val="FFFFFF"/>
          </a:solidFill>
          <a:ln w="6350">
            <a:solidFill>
              <a:srgbClr val="E3E6E4"/>
            </a:solidFill>
            <a:prstDash val="solid"/>
          </a:ln>
        </p:spPr>
      </p:sp>
      <p:sp>
        <p:nvSpPr>
          <p:cNvPr id="10" name="Text 8"/>
          <p:cNvSpPr/>
          <p:nvPr/>
        </p:nvSpPr>
        <p:spPr>
          <a:xfrm>
            <a:off x="6385560" y="1671321"/>
            <a:ext cx="2176679" cy="4521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C5CAB"/>
                </a:solidFill>
                <a:latin typeface="DM Sans" pitchFamily="34" charset="0"/>
                <a:ea typeface="DM Sans" pitchFamily="34" charset="-122"/>
                <a:cs typeface="DM Sans" pitchFamily="34" charset="-120"/>
              </a:rPr>
              <a:t>3 · FLAG MISPRICED PHONES</a:t>
            </a:r>
            <a:endParaRPr lang="en-US" sz="1200" dirty="0"/>
          </a:p>
        </p:txBody>
      </p:sp>
      <p:sp>
        <p:nvSpPr>
          <p:cNvPr id="11" name="Text 9"/>
          <p:cNvSpPr/>
          <p:nvPr/>
        </p:nvSpPr>
        <p:spPr>
          <a:xfrm>
            <a:off x="6385560" y="2186942"/>
            <a:ext cx="2176679"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Compare listed prices with the model's estimate. Phones far from it are worth a pricing review.</a:t>
            </a:r>
            <a:endParaRPr lang="en-US" sz="1400" dirty="0"/>
          </a:p>
        </p:txBody>
      </p:sp>
      <p:sp>
        <p:nvSpPr>
          <p:cNvPr id="12" name="Shape 10"/>
          <p:cNvSpPr/>
          <p:nvPr/>
        </p:nvSpPr>
        <p:spPr>
          <a:xfrm>
            <a:off x="8859520" y="1463042"/>
            <a:ext cx="2519680" cy="2425700"/>
          </a:xfrm>
          <a:prstGeom prst="roundRect">
            <a:avLst>
              <a:gd name="adj" fmla="val 4188"/>
            </a:avLst>
          </a:prstGeom>
          <a:solidFill>
            <a:srgbClr val="FDE6DC"/>
          </a:solidFill>
          <a:ln/>
        </p:spPr>
      </p:sp>
      <p:sp>
        <p:nvSpPr>
          <p:cNvPr id="13" name="Text 11"/>
          <p:cNvSpPr/>
          <p:nvPr/>
        </p:nvSpPr>
        <p:spPr>
          <a:xfrm>
            <a:off x="9062720" y="1666242"/>
            <a:ext cx="2176679" cy="4521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41A"/>
                </a:solidFill>
                <a:latin typeface="DM Sans" pitchFamily="34" charset="0"/>
                <a:ea typeface="DM Sans" pitchFamily="34" charset="-122"/>
                <a:cs typeface="DM Sans" pitchFamily="34" charset="-120"/>
              </a:rPr>
              <a:t>4 · CAUTION ABOVE ₹50,000</a:t>
            </a:r>
            <a:endParaRPr lang="en-US" sz="1200" dirty="0"/>
          </a:p>
        </p:txBody>
      </p:sp>
      <p:sp>
        <p:nvSpPr>
          <p:cNvPr id="14" name="Text 12"/>
          <p:cNvSpPr/>
          <p:nvPr/>
        </p:nvSpPr>
        <p:spPr>
          <a:xfrm>
            <a:off x="9062720" y="2181864"/>
            <a:ext cx="217667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Only 8 premium phones in the data, so set those prices by judgement, not by this model.</a:t>
            </a:r>
            <a:endParaRPr lang="en-US" sz="1400" dirty="0"/>
          </a:p>
        </p:txBody>
      </p:sp>
      <p:sp>
        <p:nvSpPr>
          <p:cNvPr id="15" name="Text 13"/>
          <p:cNvSpPr/>
          <p:nvPr/>
        </p:nvSpPr>
        <p:spPr>
          <a:xfrm>
            <a:off x="812800" y="409194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For marketing, lead with the chipset class and the tier a buyer is stepping up to. These recommendations rest on what the model relies on, which shows association, not proof that changing a feature changes price.</a:t>
            </a:r>
            <a:endParaRPr lang="en-US" sz="1400" dirty="0"/>
          </a:p>
        </p:txBody>
      </p:sp>
      <p:sp>
        <p:nvSpPr>
          <p:cNvPr id="16" name="Text 14"/>
          <p:cNvSpPr/>
          <p:nvPr/>
        </p:nvSpPr>
        <p:spPr>
          <a:xfrm>
            <a:off x="812800" y="6238242"/>
            <a:ext cx="30598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Mobile price prediction · 541 phones</a:t>
            </a:r>
            <a:endParaRPr lang="en-US" sz="1200" dirty="0"/>
          </a:p>
        </p:txBody>
      </p:sp>
      <p:sp>
        <p:nvSpPr>
          <p:cNvPr id="17" name="Text 15"/>
          <p:cNvSpPr/>
          <p:nvPr/>
        </p:nvSpPr>
        <p:spPr>
          <a:xfrm>
            <a:off x="11241564" y="6238242"/>
            <a:ext cx="1884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1EA"/>
                </a:solidFill>
                <a:latin typeface="DM Sans" pitchFamily="34" charset="0"/>
                <a:ea typeface="DM Sans" pitchFamily="34" charset="-122"/>
                <a:cs typeface="DM Sans" pitchFamily="34" charset="-120"/>
              </a:rPr>
              <a:t>What I would do next</a:t>
            </a:r>
            <a:endParaRPr lang="en-US" sz="3200" dirty="0"/>
          </a:p>
        </p:txBody>
      </p:sp>
      <p:sp>
        <p:nvSpPr>
          <p:cNvPr id="3" name="Shape 1"/>
          <p:cNvSpPr/>
          <p:nvPr/>
        </p:nvSpPr>
        <p:spPr>
          <a:xfrm>
            <a:off x="812800" y="1513842"/>
            <a:ext cx="3386614" cy="1572260"/>
          </a:xfrm>
          <a:prstGeom prst="roundRect">
            <a:avLst>
              <a:gd name="adj" fmla="val 6462"/>
            </a:avLst>
          </a:prstGeom>
          <a:solidFill>
            <a:srgbClr val="1F2F52"/>
          </a:solidFill>
          <a:ln/>
        </p:spPr>
      </p:sp>
      <p:sp>
        <p:nvSpPr>
          <p:cNvPr id="4" name="Text 2"/>
          <p:cNvSpPr/>
          <p:nvPr/>
        </p:nvSpPr>
        <p:spPr>
          <a:xfrm>
            <a:off x="1041400" y="1742442"/>
            <a:ext cx="301729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B6834"/>
                </a:solidFill>
                <a:latin typeface="DM Sans" pitchFamily="34" charset="0"/>
                <a:ea typeface="DM Sans" pitchFamily="34" charset="-122"/>
                <a:cs typeface="DM Sans" pitchFamily="34" charset="-120"/>
              </a:rPr>
              <a:t>1 · CHECK THE SCORES</a:t>
            </a:r>
            <a:endParaRPr lang="en-US" sz="1200" dirty="0"/>
          </a:p>
        </p:txBody>
      </p:sp>
      <p:sp>
        <p:nvSpPr>
          <p:cNvPr id="5" name="Text 3"/>
          <p:cNvSpPr/>
          <p:nvPr/>
        </p:nvSpPr>
        <p:spPr>
          <a:xfrm>
            <a:off x="1041400" y="2057400"/>
            <a:ext cx="301729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1EA"/>
                </a:solidFill>
                <a:latin typeface="DM Sans" pitchFamily="34" charset="0"/>
                <a:ea typeface="DM Sans" pitchFamily="34" charset="-122"/>
                <a:cs typeface="DM Sans" pitchFamily="34" charset="-120"/>
              </a:rPr>
              <a:t>Re-run cross-validation grouped by phone model to confirm the results hold on unseen models.</a:t>
            </a:r>
            <a:endParaRPr lang="en-US" sz="1500" dirty="0"/>
          </a:p>
        </p:txBody>
      </p:sp>
      <p:sp>
        <p:nvSpPr>
          <p:cNvPr id="6" name="Shape 4"/>
          <p:cNvSpPr/>
          <p:nvPr/>
        </p:nvSpPr>
        <p:spPr>
          <a:xfrm>
            <a:off x="4402614" y="1513842"/>
            <a:ext cx="3386693" cy="1572260"/>
          </a:xfrm>
          <a:prstGeom prst="roundRect">
            <a:avLst>
              <a:gd name="adj" fmla="val 6462"/>
            </a:avLst>
          </a:prstGeom>
          <a:solidFill>
            <a:srgbClr val="1F2F52"/>
          </a:solidFill>
          <a:ln/>
        </p:spPr>
      </p:sp>
      <p:sp>
        <p:nvSpPr>
          <p:cNvPr id="7" name="Text 5"/>
          <p:cNvSpPr/>
          <p:nvPr/>
        </p:nvSpPr>
        <p:spPr>
          <a:xfrm>
            <a:off x="4631214" y="1742442"/>
            <a:ext cx="301737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B6834"/>
                </a:solidFill>
                <a:latin typeface="DM Sans" pitchFamily="34" charset="0"/>
                <a:ea typeface="DM Sans" pitchFamily="34" charset="-122"/>
                <a:cs typeface="DM Sans" pitchFamily="34" charset="-120"/>
              </a:rPr>
              <a:t>2 · ADD PREMIUM DATA</a:t>
            </a:r>
            <a:endParaRPr lang="en-US" sz="1200" dirty="0"/>
          </a:p>
        </p:txBody>
      </p:sp>
      <p:sp>
        <p:nvSpPr>
          <p:cNvPr id="8" name="Text 6"/>
          <p:cNvSpPr/>
          <p:nvPr/>
        </p:nvSpPr>
        <p:spPr>
          <a:xfrm>
            <a:off x="4631214" y="2057400"/>
            <a:ext cx="301737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1EA"/>
                </a:solidFill>
                <a:latin typeface="DM Sans" pitchFamily="34" charset="0"/>
                <a:ea typeface="DM Sans" pitchFamily="34" charset="-122"/>
                <a:cs typeface="DM Sans" pitchFamily="34" charset="-120"/>
              </a:rPr>
              <a:t>Collect more phones above ₹50,000 so the model can learn that range.</a:t>
            </a:r>
            <a:endParaRPr lang="en-US" sz="1500" dirty="0"/>
          </a:p>
        </p:txBody>
      </p:sp>
      <p:sp>
        <p:nvSpPr>
          <p:cNvPr id="9" name="Shape 7"/>
          <p:cNvSpPr/>
          <p:nvPr/>
        </p:nvSpPr>
        <p:spPr>
          <a:xfrm>
            <a:off x="7992507" y="1513842"/>
            <a:ext cx="3386693" cy="1572260"/>
          </a:xfrm>
          <a:prstGeom prst="roundRect">
            <a:avLst>
              <a:gd name="adj" fmla="val 6462"/>
            </a:avLst>
          </a:prstGeom>
          <a:solidFill>
            <a:srgbClr val="1F2F52"/>
          </a:solidFill>
          <a:ln/>
        </p:spPr>
      </p:sp>
      <p:sp>
        <p:nvSpPr>
          <p:cNvPr id="10" name="Text 8"/>
          <p:cNvSpPr/>
          <p:nvPr/>
        </p:nvSpPr>
        <p:spPr>
          <a:xfrm>
            <a:off x="8221107" y="1742442"/>
            <a:ext cx="301737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B6834"/>
                </a:solidFill>
                <a:latin typeface="DM Sans" pitchFamily="34" charset="0"/>
                <a:ea typeface="DM Sans" pitchFamily="34" charset="-122"/>
                <a:cs typeface="DM Sans" pitchFamily="34" charset="-120"/>
              </a:rPr>
              <a:t>3 · RICHER FEATURES</a:t>
            </a:r>
            <a:endParaRPr lang="en-US" sz="1200" dirty="0"/>
          </a:p>
        </p:txBody>
      </p:sp>
      <p:sp>
        <p:nvSpPr>
          <p:cNvPr id="11" name="Text 9"/>
          <p:cNvSpPr/>
          <p:nvPr/>
        </p:nvSpPr>
        <p:spPr>
          <a:xfrm>
            <a:off x="8221107" y="2057400"/>
            <a:ext cx="301737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1EA"/>
                </a:solidFill>
                <a:latin typeface="DM Sans" pitchFamily="34" charset="0"/>
                <a:ea typeface="DM Sans" pitchFamily="34" charset="-122"/>
                <a:cs typeface="DM Sans" pitchFamily="34" charset="-120"/>
              </a:rPr>
              <a:t>Add phone brand, launch year and screen type, then tune XGBoost.</a:t>
            </a:r>
            <a:endParaRPr lang="en-US" sz="1500" dirty="0"/>
          </a:p>
        </p:txBody>
      </p:sp>
      <p:sp>
        <p:nvSpPr>
          <p:cNvPr id="12" name="Text 10"/>
          <p:cNvSpPr/>
          <p:nvPr/>
        </p:nvSpPr>
        <p:spPr>
          <a:xfrm>
            <a:off x="875284" y="4677410"/>
            <a:ext cx="10503915" cy="1357630"/>
          </a:xfrm>
          <a:prstGeom prst="rect">
            <a:avLst/>
          </a:prstGeom>
          <a:noFill/>
          <a:ln/>
        </p:spPr>
        <p:txBody>
          <a:bodyPr wrap="square" lIns="0" tIns="0" rIns="0" bIns="0" rtlCol="0" anchor="t">
            <a:normAutofit fontScale="85000" lnSpcReduction="10000"/>
          </a:bodyPr>
          <a:lstStyle/>
          <a:p>
            <a:pPr marL="0" indent="0" algn="l">
              <a:lnSpc>
                <a:spcPts val="2380"/>
              </a:lnSpc>
              <a:buNone/>
            </a:pPr>
            <a:r>
              <a:rPr lang="en-US" b="1" dirty="0">
                <a:solidFill>
                  <a:srgbClr val="F4F1EA"/>
                </a:solidFill>
                <a:latin typeface="DM Sans" pitchFamily="34" charset="0"/>
                <a:ea typeface="DM Sans" pitchFamily="34" charset="-122"/>
                <a:cs typeface="DM Sans" pitchFamily="34" charset="-120"/>
              </a:rPr>
              <a:t>Takeaway:</a:t>
            </a:r>
            <a:r>
              <a:rPr lang="en-US" dirty="0">
                <a:solidFill>
                  <a:srgbClr val="F4F1EA"/>
                </a:solidFill>
                <a:latin typeface="DM Sans" pitchFamily="34" charset="0"/>
                <a:ea typeface="DM Sans" pitchFamily="34" charset="-122"/>
                <a:cs typeface="DM Sans" pitchFamily="34" charset="-120"/>
              </a:rPr>
              <a:t> XGBoost predicts a typical phone within about ₹1,100 (R² 0.90), and the chipset class is what drives price.</a:t>
            </a:r>
          </a:p>
          <a:p>
            <a:pPr>
              <a:lnSpc>
                <a:spcPts val="2380"/>
              </a:lnSpc>
            </a:pPr>
            <a:r>
              <a:rPr lang="en-US" dirty="0">
                <a:solidFill>
                  <a:schemeClr val="bg1"/>
                </a:solidFill>
              </a:rPr>
              <a:t>The ablation test removes one feature group at a time, retrains with the same cross-validation, and compares the error. It shows what each feature group really contributes, which feature importance can’t, because correlated features share importance. I haven’t run it yet, so this is a next step.</a:t>
            </a:r>
            <a:endParaRPr lang="en-IN" dirty="0">
              <a:solidFill>
                <a:schemeClr val="bg1"/>
              </a:solidFill>
            </a:endParaRPr>
          </a:p>
          <a:p>
            <a:pPr marL="0" indent="0" algn="l">
              <a:lnSpc>
                <a:spcPts val="2380"/>
              </a:lnSpc>
              <a:buNone/>
            </a:pPr>
            <a:endParaRPr lang="en-US" sz="1700" dirty="0"/>
          </a:p>
        </p:txBody>
      </p:sp>
      <p:sp>
        <p:nvSpPr>
          <p:cNvPr id="13" name="Text 11"/>
          <p:cNvSpPr/>
          <p:nvPr/>
        </p:nvSpPr>
        <p:spPr>
          <a:xfrm>
            <a:off x="812800" y="6238242"/>
            <a:ext cx="31382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D0"/>
                </a:solidFill>
                <a:latin typeface="DM Sans" pitchFamily="34" charset="0"/>
                <a:ea typeface="DM Sans" pitchFamily="34" charset="-122"/>
                <a:cs typeface="DM Sans" pitchFamily="34" charset="-120"/>
              </a:rPr>
              <a:t>Roshani Mor · Mobile price prediction</a:t>
            </a:r>
            <a:endParaRPr lang="en-US" sz="1200" dirty="0"/>
          </a:p>
        </p:txBody>
      </p:sp>
      <p:sp>
        <p:nvSpPr>
          <p:cNvPr id="14" name="Text 12"/>
          <p:cNvSpPr/>
          <p:nvPr/>
        </p:nvSpPr>
        <p:spPr>
          <a:xfrm>
            <a:off x="11239103" y="6238242"/>
            <a:ext cx="1908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D0"/>
                </a:solidFill>
                <a:latin typeface="DM Sans" pitchFamily="34" charset="0"/>
                <a:ea typeface="DM Sans" pitchFamily="34" charset="-122"/>
                <a:cs typeface="DM Sans" pitchFamily="34" charset="-120"/>
              </a:rPr>
              <a:t>14</a:t>
            </a:r>
            <a:endParaRPr lang="en-US" sz="1200" dirty="0"/>
          </a:p>
        </p:txBody>
      </p:sp>
      <p:sp>
        <p:nvSpPr>
          <p:cNvPr id="15" name="Shape 4">
            <a:extLst>
              <a:ext uri="{FF2B5EF4-FFF2-40B4-BE49-F238E27FC236}">
                <a16:creationId xmlns:a16="http://schemas.microsoft.com/office/drawing/2014/main" id="{EE6B7ABB-2DB3-3846-2237-44D08FC9FB4F}"/>
              </a:ext>
            </a:extLst>
          </p:cNvPr>
          <p:cNvSpPr/>
          <p:nvPr/>
        </p:nvSpPr>
        <p:spPr>
          <a:xfrm>
            <a:off x="812800" y="3323592"/>
            <a:ext cx="10566400" cy="1113788"/>
          </a:xfrm>
          <a:prstGeom prst="roundRect">
            <a:avLst>
              <a:gd name="adj" fmla="val 6462"/>
            </a:avLst>
          </a:prstGeom>
          <a:solidFill>
            <a:srgbClr val="1F2F52"/>
          </a:solidFill>
          <a:ln/>
        </p:spPr>
      </p:sp>
      <p:sp>
        <p:nvSpPr>
          <p:cNvPr id="16" name="Text 5">
            <a:extLst>
              <a:ext uri="{FF2B5EF4-FFF2-40B4-BE49-F238E27FC236}">
                <a16:creationId xmlns:a16="http://schemas.microsoft.com/office/drawing/2014/main" id="{3345608F-99C0-F888-9964-B5A28DC67907}"/>
              </a:ext>
            </a:extLst>
          </p:cNvPr>
          <p:cNvSpPr/>
          <p:nvPr/>
        </p:nvSpPr>
        <p:spPr>
          <a:xfrm>
            <a:off x="997418" y="3552192"/>
            <a:ext cx="301737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B6834"/>
                </a:solidFill>
                <a:latin typeface="DM Sans" pitchFamily="34" charset="0"/>
                <a:ea typeface="DM Sans" pitchFamily="34" charset="-122"/>
                <a:cs typeface="DM Sans" pitchFamily="34" charset="-120"/>
              </a:rPr>
              <a:t>4 · TEST EACH FEATURE</a:t>
            </a:r>
            <a:endParaRPr lang="en-US" sz="1200" dirty="0"/>
          </a:p>
        </p:txBody>
      </p:sp>
      <p:sp>
        <p:nvSpPr>
          <p:cNvPr id="17" name="Text 6">
            <a:extLst>
              <a:ext uri="{FF2B5EF4-FFF2-40B4-BE49-F238E27FC236}">
                <a16:creationId xmlns:a16="http://schemas.microsoft.com/office/drawing/2014/main" id="{1F9D1A51-9269-1D65-956E-4851766EA36C}"/>
              </a:ext>
            </a:extLst>
          </p:cNvPr>
          <p:cNvSpPr/>
          <p:nvPr/>
        </p:nvSpPr>
        <p:spPr>
          <a:xfrm>
            <a:off x="1059902" y="3821431"/>
            <a:ext cx="10004337" cy="618489"/>
          </a:xfrm>
          <a:prstGeom prst="rect">
            <a:avLst/>
          </a:prstGeom>
          <a:noFill/>
          <a:ln/>
        </p:spPr>
        <p:txBody>
          <a:bodyPr wrap="square" lIns="0" tIns="0" rIns="0" bIns="0" rtlCol="0" anchor="t">
            <a:noAutofit/>
          </a:bodyPr>
          <a:lstStyle/>
          <a:p>
            <a:pPr marL="0" indent="0" algn="l">
              <a:lnSpc>
                <a:spcPts val="2100"/>
              </a:lnSpc>
              <a:buNone/>
            </a:pPr>
            <a:r>
              <a:rPr lang="en-US" sz="1500" dirty="0">
                <a:solidFill>
                  <a:srgbClr val="F4F1EA"/>
                </a:solidFill>
                <a:latin typeface="DM Sans" pitchFamily="34" charset="0"/>
                <a:ea typeface="DM Sans" pitchFamily="34" charset="-122"/>
                <a:cs typeface="DM Sans" pitchFamily="34" charset="-120"/>
              </a:rPr>
              <a:t>Remove Tier, Manufacturer or Processor one at a time and retrain. The change in error shows how much each one really adds.</a:t>
            </a:r>
            <a:endParaRPr lang="en-US" sz="1500" dirty="0"/>
          </a:p>
        </p:txBody>
      </p:sp>
    </p:spTree>
  </p:cSld>
  <p:clrMapOvr>
    <a:masterClrMapping/>
  </p:clrMapOvr>
</p:sld>
</file>

<file path=ppt/theme/theme1.xml><?xml version="1.0" encoding="utf-8"?>
<a:theme xmlns:a="http://schemas.openxmlformats.org/drawingml/2006/main" name="Mobile Price Prediction">
  <a:themeElements>
    <a:clrScheme name="Mobile Price Prediction">
      <a:dk1>
        <a:srgbClr val="14213D"/>
      </a:dk1>
      <a:lt1>
        <a:srgbClr val="FBFBF8"/>
      </a:lt1>
      <a:dk2>
        <a:srgbClr val="4E586C"/>
      </a:dk2>
      <a:lt2>
        <a:srgbClr val="E4E5E5"/>
      </a:lt2>
      <a:accent1>
        <a:srgbClr val="2A78D6"/>
      </a:accent1>
      <a:accent2>
        <a:srgbClr val="1C5CAB"/>
      </a:accent2>
      <a:accent3>
        <a:srgbClr val="EB6834"/>
      </a:accent3>
      <a:accent4>
        <a:srgbClr val="8FB8F0"/>
      </a:accent4>
      <a:accent5>
        <a:srgbClr val="B4441A"/>
      </a:accent5>
      <a:accent6>
        <a:srgbClr val="4A5568"/>
      </a:accent6>
      <a:hlink>
        <a:srgbClr val="0563C1"/>
      </a:hlink>
      <a:folHlink>
        <a:srgbClr val="954F72"/>
      </a:folHlink>
    </a:clrScheme>
    <a:fontScheme name="Mobile Price Predicti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2578</Words>
  <Application>Microsoft Office PowerPoint</Application>
  <PresentationFormat>Widescreen</PresentationFormat>
  <Paragraphs>278</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DM Sans</vt:lpstr>
      <vt:lpstr>Arial</vt:lpstr>
      <vt:lpstr>Mobile Price Prediction</vt:lpstr>
      <vt:lpstr>Which phone features drive price?</vt:lpstr>
      <vt:lpstr>What moves a phone’s price?</vt:lpstr>
      <vt:lpstr>541 phones, mostly budget</vt:lpstr>
      <vt:lpstr>123 processor labels, far fewer chips</vt:lpstr>
      <vt:lpstr>Chipset class separates prices clearly</vt:lpstr>
      <vt:lpstr>Seven models against a simple baseline</vt:lpstr>
      <vt:lpstr>Test results: XGBoost leads on every metric</vt:lpstr>
      <vt:lpstr>Cross-validation confirms XGBoost</vt:lpstr>
      <vt:lpstr>The model mostly reads the chipset</vt:lpstr>
      <vt:lpstr>Specs track price, but the chip comes first</vt:lpstr>
      <vt:lpstr>Most phones are predicted within ₹500</vt:lpstr>
      <vt:lpstr>What was achieved, and what can be improved</vt:lpstr>
      <vt:lpstr>Recommendations for pricing and marketing</vt:lpstr>
      <vt:lpstr>What I would do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Price Prediction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Roshni Mor</cp:lastModifiedBy>
  <cp:revision>2</cp:revision>
  <dcterms:created xsi:type="dcterms:W3CDTF">2026-10-21T10:04:53Z</dcterms:created>
  <dcterms:modified xsi:type="dcterms:W3CDTF">2026-10-21T12:13:42Z</dcterms:modified>
</cp:coreProperties>
</file>